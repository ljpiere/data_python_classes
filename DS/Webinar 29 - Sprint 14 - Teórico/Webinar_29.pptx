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5"/>
  </p:notesMasterIdLst>
  <p:sldIdLst>
    <p:sldId id="256" r:id="rId2"/>
    <p:sldId id="258" r:id="rId3"/>
    <p:sldId id="305" r:id="rId4"/>
    <p:sldId id="275" r:id="rId5"/>
    <p:sldId id="278" r:id="rId6"/>
    <p:sldId id="264" r:id="rId7"/>
    <p:sldId id="329" r:id="rId8"/>
    <p:sldId id="330" r:id="rId9"/>
    <p:sldId id="331" r:id="rId10"/>
    <p:sldId id="332" r:id="rId11"/>
    <p:sldId id="333" r:id="rId12"/>
    <p:sldId id="334" r:id="rId13"/>
    <p:sldId id="335" r:id="rId14"/>
    <p:sldId id="316" r:id="rId15"/>
    <p:sldId id="304" r:id="rId16"/>
    <p:sldId id="306" r:id="rId17"/>
    <p:sldId id="281" r:id="rId18"/>
    <p:sldId id="274" r:id="rId19"/>
    <p:sldId id="263" r:id="rId20"/>
    <p:sldId id="265" r:id="rId21"/>
    <p:sldId id="266" r:id="rId22"/>
    <p:sldId id="267" r:id="rId23"/>
    <p:sldId id="268" r:id="rId24"/>
    <p:sldId id="269" r:id="rId25"/>
    <p:sldId id="270" r:id="rId26"/>
    <p:sldId id="271" r:id="rId27"/>
    <p:sldId id="272" r:id="rId28"/>
    <p:sldId id="273" r:id="rId29"/>
    <p:sldId id="276" r:id="rId30"/>
    <p:sldId id="279" r:id="rId31"/>
    <p:sldId id="280"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9144000" cy="5143500" type="screen16x9"/>
  <p:notesSz cx="6858000" cy="9144000"/>
  <p:embeddedFontLst>
    <p:embeddedFont>
      <p:font typeface="Inter" panose="020B0604020202020204" charset="0"/>
      <p:regular r:id="rId56"/>
      <p:bold r:id="rId57"/>
      <p:italic r:id="rId58"/>
      <p:boldItalic r:id="rId59"/>
    </p:embeddedFont>
    <p:embeddedFont>
      <p:font typeface="Inter ExtraBold" panose="020B0604020202020204" charset="0"/>
      <p:bold r:id="rId60"/>
      <p:boldItalic r:id="rId61"/>
    </p:embeddedFont>
    <p:embeddedFont>
      <p:font typeface="Inter Medium" panose="020B0604020202020204" charset="0"/>
      <p:regular r:id="rId62"/>
      <p:bold r:id="rId63"/>
      <p:italic r:id="rId64"/>
      <p:boldItalic r:id="rId65"/>
    </p:embeddedFont>
    <p:embeddedFont>
      <p:font typeface="Inter SemiBold" panose="020B0604020202020204" charset="0"/>
      <p:regular r:id="rId66"/>
      <p:bold r:id="rId67"/>
      <p:italic r:id="rId68"/>
      <p:boldItalic r:id="rId69"/>
    </p:embeddedFont>
    <p:embeddedFont>
      <p:font typeface="Roboto Mono" panose="00000009000000000000" pitchFamily="49"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font" Target="fonts/font13.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16.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4CD123-5108-7A85-B343-295BFDC9DEC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920608AC-5C0E-F0C1-16A5-DDED3780E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DC64C88-8D2D-8E34-32CA-271BB9F3FD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719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7F68BD75-6241-6281-E7D1-7F1647078047}"/>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4069DE18-A6CC-13D9-713A-645F6C1E4D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BD4C28E0-0069-E812-AFD4-EE59455551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5922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EA9BC3B-517F-BB6F-A59D-9C53267E4B42}"/>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2E1CBE39-022F-209F-6C95-77B8D2DCC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2249E3B3-F222-2B24-5FFC-EBBBC9B013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9937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9D4792D-89A8-7C78-10BA-9050E7DB34B9}"/>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206A7730-1BB7-DD06-9AA4-D8B1A95AF3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9A93040-269A-D2E1-0446-BBD8355492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9978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5C785946-81AF-A67D-817D-501DFE636F2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F544636D-62E5-DD02-CB7E-9C8E785BFB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09CFEB1-E117-DBBE-2A9C-C44B4EF1EF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0936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C80FAEFF-D7EE-93F0-1917-2F1D187C7995}"/>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192C67F2-D571-1340-C177-2FD550AC05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38DC2B0-C2AF-8DC9-7B0C-092FF58FD5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2238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D42B17DA-808C-7A2F-DFAA-656028F923B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6C61E5EE-2A00-6BFD-E0F9-484C3E3084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3286E95-4796-5E8C-7251-0A95782B32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4735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34.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35.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35.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9.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9.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4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0.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4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4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4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44.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4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46.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9.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50.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50.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5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1.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52.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52.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5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53.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29 - Sprint 14</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Descenso por gradiente</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Introducción</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Descenso por gradiente</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Introduccion</a:t>
            </a:r>
            <a:r>
              <a:rPr lang="es-CO" sz="2400" dirty="0">
                <a:solidFill>
                  <a:srgbClr val="1A1A1A"/>
                </a:solidFill>
                <a:latin typeface="Inter"/>
                <a:ea typeface="Inter"/>
                <a:cs typeface="Inter"/>
                <a:sym typeface="Inter"/>
              </a:rPr>
              <a:t> a redes neuronales</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Recapitular conceptos de álgebra lineal</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Revisar algoritmo de descenso por gradiente</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Revisar de forma conceptual las redes neuronales</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 name="Picture 2">
            <a:extLst>
              <a:ext uri="{FF2B5EF4-FFF2-40B4-BE49-F238E27FC236}">
                <a16:creationId xmlns:a16="http://schemas.microsoft.com/office/drawing/2014/main" id="{47A611AD-F384-2424-BD03-260FEC3E80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59"/>
          <a:stretch/>
        </p:blipFill>
        <p:spPr bwMode="auto">
          <a:xfrm>
            <a:off x="3611852" y="0"/>
            <a:ext cx="525505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B05AF66-CDA6-6441-F32D-C215BDA57E4B}"/>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0ED78EE-D82B-BCA9-792A-D048FFE2CB9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D52AAD0E-D5FF-1F94-CDC7-8CF29BB2FF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Recordemos el KNN</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60907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99DDE76-2230-336A-9FF4-658B7E05FBF8}"/>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EE9D8CB-F237-6885-0F39-82DA44FE13EA}"/>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B6EB8E9E-8DD0-B0E2-5DBE-B3F98CEB206D}"/>
              </a:ext>
            </a:extLst>
          </p:cNvPr>
          <p:cNvSpPr txBox="1">
            <a:spLocks noGrp="1"/>
          </p:cNvSpPr>
          <p:nvPr>
            <p:ph type="ctrTitle"/>
          </p:nvPr>
        </p:nvSpPr>
        <p:spPr>
          <a:xfrm>
            <a:off x="96875" y="424975"/>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Recordemos la optimización de </a:t>
            </a:r>
            <a:r>
              <a:rPr lang="es-CO" sz="4000" dirty="0" err="1">
                <a:solidFill>
                  <a:srgbClr val="1A1A1A"/>
                </a:solidFill>
                <a:latin typeface="Inter ExtraBold"/>
                <a:ea typeface="Inter ExtraBold"/>
                <a:cs typeface="Inter ExtraBold"/>
                <a:sym typeface="Inter ExtraBold"/>
              </a:rPr>
              <a:t>hiperparámetros</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315274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3818AC2E-B687-C859-3263-6353402ACCD0}"/>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B983CF42-6477-0BE0-C50D-2EF480DA6EB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C175189B-5C63-2213-233A-5E98A90FCB5A}"/>
              </a:ext>
            </a:extLst>
          </p:cNvPr>
          <p:cNvSpPr txBox="1">
            <a:spLocks noGrp="1"/>
          </p:cNvSpPr>
          <p:nvPr>
            <p:ph type="ctrTitle"/>
          </p:nvPr>
        </p:nvSpPr>
        <p:spPr>
          <a:xfrm>
            <a:off x="228600" y="1556102"/>
            <a:ext cx="8190781"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Entonces, de qué forma óptima podríamos optimizar nuestros </a:t>
            </a:r>
            <a:r>
              <a:rPr lang="es-CO" sz="4000" dirty="0" err="1">
                <a:solidFill>
                  <a:srgbClr val="1A1A1A"/>
                </a:solidFill>
                <a:latin typeface="Inter ExtraBold"/>
                <a:ea typeface="Inter ExtraBold"/>
                <a:cs typeface="Inter ExtraBold"/>
                <a:sym typeface="Inter ExtraBold"/>
              </a:rPr>
              <a:t>hiperparámetros</a:t>
            </a:r>
            <a:r>
              <a:rPr lang="es-CO" sz="4000" dirty="0">
                <a:solidFill>
                  <a:srgbClr val="1A1A1A"/>
                </a:solidFill>
                <a:latin typeface="Inter ExtraBold"/>
                <a:ea typeface="Inter ExtraBold"/>
                <a:cs typeface="Inter ExtraBold"/>
                <a:sym typeface="Inter ExtraBold"/>
              </a:rPr>
              <a:t>?</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3581616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12A8ED18-6ADD-A87B-F42A-188DB066138C}"/>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2A323CA7-6760-476F-B516-E366CEC3BB3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963043B3-3C7C-A03C-EB3B-490E00192B3C}"/>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Descenso por gradiente</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1275132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2CD830EC-7ACF-1E7B-A01F-FED33486E74E}"/>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F0B7CD69-BFC0-E6E5-7704-A9F61814EDC5}"/>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304A4EEE-A951-DD5E-DDB6-D67D89EB5DF2}"/>
              </a:ext>
            </a:extLst>
          </p:cNvPr>
          <p:cNvSpPr txBox="1">
            <a:spLocks noGrp="1"/>
          </p:cNvSpPr>
          <p:nvPr>
            <p:ph type="ctrTitle"/>
          </p:nvPr>
        </p:nvSpPr>
        <p:spPr>
          <a:xfrm>
            <a:off x="96875" y="424975"/>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Ahora, como es un proceso de toma de decisiones?</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3161274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6A10A36B-7AB1-7247-DBF9-6AA1AAF7549A}"/>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EC8B082C-B2C9-5D09-AAD1-9C8020579A3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C4C5C002-688C-45CE-DAA3-2D858D027466}"/>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err="1">
                <a:solidFill>
                  <a:srgbClr val="1A1A1A"/>
                </a:solidFill>
                <a:latin typeface="Inter ExtraBold"/>
                <a:ea typeface="Inter ExtraBold"/>
                <a:cs typeface="Inter ExtraBold"/>
                <a:sym typeface="Inter ExtraBold"/>
              </a:rPr>
              <a:t>Representemoslo</a:t>
            </a:r>
            <a:r>
              <a:rPr lang="es-CO" sz="4000" dirty="0">
                <a:solidFill>
                  <a:srgbClr val="1A1A1A"/>
                </a:solidFill>
                <a:latin typeface="Inter ExtraBold"/>
                <a:ea typeface="Inter ExtraBold"/>
                <a:cs typeface="Inter ExtraBold"/>
                <a:sym typeface="Inter ExtraBold"/>
              </a:rPr>
              <a:t> en unidades</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48114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4E2B4D22-A72E-1C4F-B6B0-1AB26B3B4CC7}"/>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536E0D5-8DB6-61E1-3347-3F7B3BF41F0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24EEE224-9AE0-8652-0671-7EECB86C6E1F}"/>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O" sz="4000" dirty="0">
                <a:solidFill>
                  <a:srgbClr val="1A1A1A"/>
                </a:solidFill>
                <a:latin typeface="Inter ExtraBold"/>
                <a:ea typeface="Inter ExtraBold"/>
                <a:cs typeface="Inter ExtraBold"/>
                <a:sym typeface="Inter ExtraBold"/>
              </a:rPr>
              <a:t>Una red neuronal</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394559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Revisamos el concepto de descenso por gradiente</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Nos introdujimos a los procesos de optimización de </a:t>
            </a:r>
            <a:r>
              <a:rPr lang="es-ES" sz="1800" dirty="0" err="1">
                <a:solidFill>
                  <a:srgbClr val="1A1A1A"/>
                </a:solidFill>
                <a:latin typeface="Inter Medium"/>
                <a:ea typeface="Inter Medium"/>
                <a:cs typeface="Inter Medium"/>
                <a:sym typeface="Inter Medium"/>
              </a:rPr>
              <a:t>hiperárametros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Nos </a:t>
            </a:r>
            <a:r>
              <a:rPr lang="es-ES" sz="1800" dirty="0" err="1">
                <a:solidFill>
                  <a:srgbClr val="1A1A1A"/>
                </a:solidFill>
                <a:latin typeface="Inter Medium"/>
                <a:ea typeface="Inter Medium"/>
                <a:cs typeface="Inter Medium"/>
                <a:sym typeface="Inter Medium"/>
              </a:rPr>
              <a:t>sumerginos</a:t>
            </a:r>
            <a:r>
              <a:rPr lang="es-ES" sz="1800" dirty="0">
                <a:solidFill>
                  <a:srgbClr val="1A1A1A"/>
                </a:solidFill>
                <a:latin typeface="Inter Medium"/>
                <a:ea typeface="Inter Medium"/>
                <a:cs typeface="Inter Medium"/>
                <a:sym typeface="Inter Medium"/>
              </a:rPr>
              <a:t> a las </a:t>
            </a:r>
            <a:r>
              <a:rPr lang="es-ES" sz="1800">
                <a:solidFill>
                  <a:srgbClr val="1A1A1A"/>
                </a:solidFill>
                <a:latin typeface="Inter Medium"/>
                <a:ea typeface="Inter Medium"/>
                <a:cs typeface="Inter Medium"/>
                <a:sym typeface="Inter Medium"/>
              </a:rPr>
              <a:t>redes neuronales</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1465</TotalTime>
  <Words>1619</Words>
  <Application>Microsoft Office PowerPoint</Application>
  <PresentationFormat>Presentación en pantalla (16:9)</PresentationFormat>
  <Paragraphs>173</Paragraphs>
  <Slides>53</Slides>
  <Notes>53</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53</vt:i4>
      </vt:variant>
    </vt:vector>
  </HeadingPairs>
  <TitlesOfParts>
    <vt:vector size="60" baseType="lpstr">
      <vt:lpstr>Inter Medium</vt:lpstr>
      <vt:lpstr>Inter</vt:lpstr>
      <vt:lpstr>Inter SemiBold</vt:lpstr>
      <vt:lpstr>Arial</vt:lpstr>
      <vt:lpstr>Roboto Mono</vt:lpstr>
      <vt:lpstr>Inter ExtraBold</vt:lpstr>
      <vt:lpstr>Simple Light</vt:lpstr>
      <vt:lpstr>Webinar 29 - Sprint 14 Descenso por gradiente</vt:lpstr>
      <vt:lpstr>Agenda</vt:lpstr>
      <vt:lpstr>Acuerdos</vt:lpstr>
      <vt:lpstr>Objetivo</vt:lpstr>
      <vt:lpstr>Midamos los ánimos</vt:lpstr>
      <vt:lpstr>Recap</vt:lpstr>
      <vt:lpstr>Recordemos el KNN</vt:lpstr>
      <vt:lpstr>Recordemos la optimización de hiperparámetros</vt:lpstr>
      <vt:lpstr>Entonces, de qué forma óptima podríamos optimizar nuestros hiperparámetros?</vt:lpstr>
      <vt:lpstr>Descenso por gradiente</vt:lpstr>
      <vt:lpstr>Ahora, como es un proceso de toma de decisiones?</vt:lpstr>
      <vt:lpstr>Representemoslo en unidades</vt:lpstr>
      <vt:lpstr>Una red neuronal</vt:lpstr>
      <vt:lpstr>Vamos un ejemplo!</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30</cp:revision>
  <dcterms:modified xsi:type="dcterms:W3CDTF">2025-07-23T01:41:16Z</dcterms:modified>
</cp:coreProperties>
</file>