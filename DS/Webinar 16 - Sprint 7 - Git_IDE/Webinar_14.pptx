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3"/>
  </p:notesMasterIdLst>
  <p:sldIdLst>
    <p:sldId id="256" r:id="rId2"/>
    <p:sldId id="258" r:id="rId3"/>
    <p:sldId id="305" r:id="rId4"/>
    <p:sldId id="275" r:id="rId5"/>
    <p:sldId id="278" r:id="rId6"/>
    <p:sldId id="264" r:id="rId7"/>
    <p:sldId id="311" r:id="rId8"/>
    <p:sldId id="313" r:id="rId9"/>
    <p:sldId id="307" r:id="rId10"/>
    <p:sldId id="277" r:id="rId11"/>
    <p:sldId id="314" r:id="rId12"/>
    <p:sldId id="316" r:id="rId13"/>
    <p:sldId id="274" r:id="rId14"/>
    <p:sldId id="304" r:id="rId15"/>
    <p:sldId id="306" r:id="rId16"/>
    <p:sldId id="281" r:id="rId17"/>
    <p:sldId id="263" r:id="rId18"/>
    <p:sldId id="265" r:id="rId19"/>
    <p:sldId id="266" r:id="rId20"/>
    <p:sldId id="267" r:id="rId21"/>
    <p:sldId id="268" r:id="rId22"/>
    <p:sldId id="269" r:id="rId23"/>
    <p:sldId id="270" r:id="rId24"/>
    <p:sldId id="271" r:id="rId25"/>
    <p:sldId id="272" r:id="rId26"/>
    <p:sldId id="273" r:id="rId27"/>
    <p:sldId id="276" r:id="rId28"/>
    <p:sldId id="279" r:id="rId29"/>
    <p:sldId id="280"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x="9144000" cy="5143500" type="screen16x9"/>
  <p:notesSz cx="6858000" cy="9144000"/>
  <p:embeddedFontLst>
    <p:embeddedFont>
      <p:font typeface="Inter" panose="020B0604020202020204" charset="0"/>
      <p:regular r:id="rId54"/>
      <p:bold r:id="rId55"/>
      <p:italic r:id="rId56"/>
      <p:boldItalic r:id="rId57"/>
    </p:embeddedFont>
    <p:embeddedFont>
      <p:font typeface="Inter ExtraBold" panose="020B0604020202020204" charset="0"/>
      <p:bold r:id="rId58"/>
      <p:boldItalic r:id="rId59"/>
    </p:embeddedFont>
    <p:embeddedFont>
      <p:font typeface="Inter Medium" panose="020B0604020202020204" charset="0"/>
      <p:regular r:id="rId60"/>
      <p:bold r:id="rId61"/>
      <p:italic r:id="rId62"/>
      <p:boldItalic r:id="rId63"/>
    </p:embeddedFont>
    <p:embeddedFont>
      <p:font typeface="Inter SemiBold" panose="020B0604020202020204" charset="0"/>
      <p:regular r:id="rId64"/>
      <p:bold r:id="rId65"/>
      <p:italic r:id="rId66"/>
      <p:boldItalic r:id="rId67"/>
    </p:embeddedFont>
    <p:embeddedFont>
      <p:font typeface="Roboto Mono" panose="00000009000000000000" pitchFamily="49"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748" y="48"/>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D38F41E-F9AC-F884-14DB-7E1E0E3FEB7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25883472-363B-AA24-63EC-E7FBB9C96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6F48C6BD-0A35-DDF1-7174-B2137BEF4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000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E22292D-32AE-0960-45E8-62BF575027E5}"/>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44267032-B792-5E21-2239-120D4CA3A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FE6264A2-9AD8-1489-AD57-A57797516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78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99BF04B-A094-6F17-B745-9BEE78B8693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B2B809DF-8975-8875-6954-92D6DB4DE9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7C58F0BD-590A-D601-7C0A-252BE1A8BC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3580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770B8B45-D286-87E0-B6C8-677AF3EF1D0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48A95696-EB65-2B94-A2FC-21F8BAC06F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1E4DD669-A88D-09A9-6E7B-95AD8CB0A4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85939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hyperlink" Target="https://www.kaggle.com/code/vikramb/mobile-price-prediction"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32.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33.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33.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40.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4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1.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4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4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44.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7.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8.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9.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50.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50.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5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51.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14 - Sprint 7</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I</a:t>
            </a:r>
            <a:r>
              <a:rPr lang="es-CO" sz="2000" dirty="0">
                <a:solidFill>
                  <a:srgbClr val="1A1A1A"/>
                </a:solidFill>
                <a:latin typeface="Inter"/>
                <a:ea typeface="Inter"/>
                <a:cs typeface="Inter ExtraBold"/>
                <a:sym typeface="Inter"/>
              </a:rPr>
              <a:t>d</a:t>
            </a:r>
            <a:r>
              <a:rPr lang="en" sz="2000" dirty="0">
                <a:solidFill>
                  <a:srgbClr val="1A1A1A"/>
                </a:solidFill>
                <a:latin typeface="Inter"/>
                <a:ea typeface="Inter"/>
                <a:cs typeface="Inter ExtraBold"/>
                <a:sym typeface="Inter"/>
              </a:rPr>
              <a:t>e - Git</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r>
              <a:rPr lang="es-CO" sz="2400" dirty="0">
                <a:solidFill>
                  <a:srgbClr val="1A1A1A"/>
                </a:solidFill>
                <a:latin typeface="Inter"/>
                <a:ea typeface="Inter"/>
                <a:cs typeface="Inter"/>
                <a:sym typeface="Inter"/>
              </a:rPr>
              <a:t> - Terminal</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Jupyter</a:t>
            </a:r>
            <a:r>
              <a:rPr lang="es-CO" sz="2400" dirty="0">
                <a:solidFill>
                  <a:srgbClr val="1A1A1A"/>
                </a:solidFill>
                <a:latin typeface="Inter"/>
                <a:ea typeface="Inter"/>
                <a:cs typeface="Inter"/>
                <a:sym typeface="Inter"/>
              </a:rPr>
              <a:t> + Anaconda</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VS </a:t>
            </a:r>
            <a:r>
              <a:rPr lang="es-CO" sz="2400" dirty="0" err="1">
                <a:solidFill>
                  <a:srgbClr val="1A1A1A"/>
                </a:solidFill>
                <a:latin typeface="Inter"/>
                <a:ea typeface="Inter"/>
                <a:cs typeface="Inter"/>
                <a:sym typeface="Inter"/>
              </a:rPr>
              <a:t>Code</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Git – </a:t>
            </a:r>
            <a:r>
              <a:rPr lang="es-CO" sz="2400" dirty="0" err="1">
                <a:solidFill>
                  <a:srgbClr val="1A1A1A"/>
                </a:solidFill>
                <a:latin typeface="Inter"/>
                <a:ea typeface="Inter"/>
                <a:cs typeface="Inter"/>
                <a:sym typeface="Inter"/>
              </a:rPr>
              <a:t>Github</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VS </a:t>
            </a:r>
            <a:r>
              <a:rPr lang="es-CO" sz="2400" dirty="0" err="1">
                <a:solidFill>
                  <a:srgbClr val="1A1A1A"/>
                </a:solidFill>
                <a:latin typeface="Inter"/>
                <a:ea typeface="Inter"/>
                <a:cs typeface="Inter"/>
                <a:sym typeface="Inter"/>
              </a:rPr>
              <a:t>Code</a:t>
            </a:r>
            <a:r>
              <a:rPr lang="es-CO" sz="2400" dirty="0">
                <a:solidFill>
                  <a:srgbClr val="1A1A1A"/>
                </a:solidFill>
                <a:latin typeface="Inter"/>
                <a:ea typeface="Inter"/>
                <a:cs typeface="Inter"/>
                <a:sym typeface="Inter"/>
              </a:rPr>
              <a:t> + </a:t>
            </a:r>
            <a:r>
              <a:rPr lang="es-CO" sz="2400" dirty="0" err="1">
                <a:solidFill>
                  <a:srgbClr val="1A1A1A"/>
                </a:solidFill>
                <a:latin typeface="Inter"/>
                <a:ea typeface="Inter"/>
                <a:cs typeface="Inter"/>
                <a:sym typeface="Inter"/>
              </a:rPr>
              <a:t>Github</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Construyendo tu portafolio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Introducirnos al uso de herramientas de programación e </a:t>
            </a:r>
            <a:r>
              <a:rPr lang="es-ES" sz="1800" dirty="0" err="1"/>
              <a:t>IDEs</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Practicar el uso básico de GIT para el control de versiones</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Realizar la construcción de nuestro primer proyecto en GitHub</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5F8D258-8437-BAC8-79AD-316DA67CF9ED}"/>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E3CC62D7-3872-A0F3-F2BA-4457673263E9}"/>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AF332340-C069-FFF1-3245-F01A91208C4B}"/>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¿Qué es un Anaconda?</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90DFC45D-347B-EB67-ABC8-7FD8DE152FD5}"/>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Distribución de paquetes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Anaconda nos provee de paquetes de software precompilados y listos para usar.</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Principalmente en el area de ciencia y analítica de datos.</a:t>
            </a:r>
            <a:endParaRPr dirty="0">
              <a:solidFill>
                <a:srgbClr val="1A1A1A"/>
              </a:solidFill>
            </a:endParaRPr>
          </a:p>
        </p:txBody>
      </p:sp>
      <p:sp>
        <p:nvSpPr>
          <p:cNvPr id="143" name="Google Shape;143;p25">
            <a:extLst>
              <a:ext uri="{FF2B5EF4-FFF2-40B4-BE49-F238E27FC236}">
                <a16:creationId xmlns:a16="http://schemas.microsoft.com/office/drawing/2014/main" id="{028E25E2-054C-4374-DB07-2002453AC161}"/>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Paquetería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Denominados “paquetes” como a cada componente individual de software que compone un todo.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Por ejemplo, python se consideraria un paquete y pandas, aunque sea libreria de python, se consideraría otro paquete.</a:t>
            </a:r>
            <a:endParaRPr dirty="0">
              <a:solidFill>
                <a:srgbClr val="1A1A1A"/>
              </a:solidFill>
            </a:endParaRPr>
          </a:p>
        </p:txBody>
      </p:sp>
      <p:sp>
        <p:nvSpPr>
          <p:cNvPr id="144" name="Google Shape;144;p25">
            <a:extLst>
              <a:ext uri="{FF2B5EF4-FFF2-40B4-BE49-F238E27FC236}">
                <a16:creationId xmlns:a16="http://schemas.microsoft.com/office/drawing/2014/main" id="{D36742B1-0794-3D74-43EC-B590A24B1960}"/>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¿Siempre debemos usar Anaconda?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Anaconda nos falicita la configuración “step by step” de un entorno de programación listo para usar. Pero eso no significa que sea la única forma de configurar nuestro espacio de trabajo.</a:t>
            </a:r>
            <a:endParaRPr dirty="0">
              <a:solidFill>
                <a:srgbClr val="1A1A1A"/>
              </a:solidFill>
            </a:endParaRPr>
          </a:p>
        </p:txBody>
      </p:sp>
    </p:spTree>
    <p:extLst>
      <p:ext uri="{BB962C8B-B14F-4D97-AF65-F5344CB8AC3E}">
        <p14:creationId xmlns:p14="http://schemas.microsoft.com/office/powerpoint/2010/main" val="42297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4777A78-6FEF-3B53-0389-27806B45CD5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8CB221BE-A96F-8DBD-0FA6-3520BB05B635}"/>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su página web!</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76F4D4A-1845-15B9-CE7F-D1DD2798F844}"/>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2954355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124B278D-A664-9879-A605-35804BF4AF73}"/>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496C1AFE-8AB4-E870-1A3E-0131C3DA029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BADA90C9-E2E1-D8C3-EF9E-8F414B95B416}"/>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¿Qué es un IDE?</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557E4D76-E6AC-95FA-CA71-218E6599F389}"/>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Entorno</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Un entorno de desarrollo integrado (IDE) nos provee de herramientas de edición de código fuente, herramientas de construir automática y depuración de código. </a:t>
            </a:r>
            <a:endParaRPr dirty="0">
              <a:solidFill>
                <a:srgbClr val="1A1A1A"/>
              </a:solidFill>
            </a:endParaRPr>
          </a:p>
        </p:txBody>
      </p:sp>
      <p:sp>
        <p:nvSpPr>
          <p:cNvPr id="143" name="Google Shape;143;p25">
            <a:extLst>
              <a:ext uri="{FF2B5EF4-FFF2-40B4-BE49-F238E27FC236}">
                <a16:creationId xmlns:a16="http://schemas.microsoft.com/office/drawing/2014/main" id="{8B3C30FB-2746-B55C-438B-A6C8710C5845}"/>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err="1">
                <a:solidFill>
                  <a:srgbClr val="1A1A1A"/>
                </a:solidFill>
                <a:latin typeface="Inter"/>
                <a:ea typeface="Inter"/>
                <a:cs typeface="Inter"/>
                <a:sym typeface="Inter"/>
              </a:rPr>
              <a:t>Jupyter</a:t>
            </a:r>
            <a:r>
              <a:rPr lang="es-CO" sz="1600" b="1" dirty="0">
                <a:solidFill>
                  <a:srgbClr val="1A1A1A"/>
                </a:solidFill>
                <a:latin typeface="Inter"/>
                <a:ea typeface="Inter"/>
                <a:cs typeface="Inter"/>
                <a:sym typeface="Inter"/>
              </a:rPr>
              <a:t> NO es un IDE</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Jupyter nos permite integrar un flujo de trabajo que consiste en iterar sentencias de coidog (util para labores de manipulación de datos) pero no permite la construcción de software propiamente hablando.</a:t>
            </a:r>
            <a:endParaRPr dirty="0">
              <a:solidFill>
                <a:srgbClr val="1A1A1A"/>
              </a:solidFill>
            </a:endParaRPr>
          </a:p>
        </p:txBody>
      </p:sp>
      <p:sp>
        <p:nvSpPr>
          <p:cNvPr id="144" name="Google Shape;144;p25">
            <a:extLst>
              <a:ext uri="{FF2B5EF4-FFF2-40B4-BE49-F238E27FC236}">
                <a16:creationId xmlns:a16="http://schemas.microsoft.com/office/drawing/2014/main" id="{853BCDDC-4331-106E-9466-F5A6A63D66CC}"/>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Diferentes </a:t>
            </a:r>
            <a:r>
              <a:rPr lang="es-CO" sz="1600" b="1" dirty="0" err="1">
                <a:solidFill>
                  <a:srgbClr val="1A1A1A"/>
                </a:solidFill>
                <a:latin typeface="Inter"/>
                <a:ea typeface="Inter"/>
                <a:cs typeface="Inter"/>
                <a:sym typeface="Inter"/>
              </a:rPr>
              <a:t>IDEs</a:t>
            </a:r>
            <a:r>
              <a:rPr lang="es-CO" sz="1600" b="1" dirty="0">
                <a:solidFill>
                  <a:srgbClr val="1A1A1A"/>
                </a:solidFill>
                <a:latin typeface="Inter"/>
                <a:ea typeface="Inter"/>
                <a:cs typeface="Inter"/>
                <a:sym typeface="Inter"/>
              </a:rPr>
              <a:t> para diferentes gustos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No es imperativo ser experto en un único IDE. La industria está en constante cambio y existen herramientas multiples pero que se basan en los mismos conceptos.</a:t>
            </a:r>
            <a:endParaRPr dirty="0">
              <a:solidFill>
                <a:srgbClr val="1A1A1A"/>
              </a:solidFill>
            </a:endParaRPr>
          </a:p>
        </p:txBody>
      </p:sp>
    </p:spTree>
    <p:extLst>
      <p:ext uri="{BB962C8B-B14F-4D97-AF65-F5344CB8AC3E}">
        <p14:creationId xmlns:p14="http://schemas.microsoft.com/office/powerpoint/2010/main" val="2990878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su página web!</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2CBD32F-68F0-99BC-3F59-BF14508EBAA6}"/>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DFD444B6-1DA7-1237-50B1-E9541B405B88}"/>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40F90587-F3D1-2AE5-D173-F3052474A90A}"/>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¿Qué es GIT?</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C6F0261D-3558-AD2B-02CC-D8C318281501}"/>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Control de versiones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En programación, cada modificación y puesta en marcha de un paquete de software se denomina “versión” (piensalo como la versión de una app que de 1.11 va a la 1.12).</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¿Cómo podemos controlar y rastrear los cambios entre versiones?</a:t>
            </a:r>
            <a:endParaRPr dirty="0">
              <a:solidFill>
                <a:srgbClr val="1A1A1A"/>
              </a:solidFill>
            </a:endParaRPr>
          </a:p>
        </p:txBody>
      </p:sp>
      <p:sp>
        <p:nvSpPr>
          <p:cNvPr id="143" name="Google Shape;143;p25">
            <a:extLst>
              <a:ext uri="{FF2B5EF4-FFF2-40B4-BE49-F238E27FC236}">
                <a16:creationId xmlns:a16="http://schemas.microsoft.com/office/drawing/2014/main" id="{7716BC87-5469-E417-1504-A2FACEE21193}"/>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Coordinación y trabajo en equipo</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GIT posibilita el trabajo colaborativo para que multiples programadores trabajen en el mismo paquete de software permitiendo el rastreo y control de cambios en el código.</a:t>
            </a:r>
            <a:endParaRPr dirty="0">
              <a:solidFill>
                <a:srgbClr val="1A1A1A"/>
              </a:solidFill>
            </a:endParaRPr>
          </a:p>
        </p:txBody>
      </p:sp>
      <p:sp>
        <p:nvSpPr>
          <p:cNvPr id="144" name="Google Shape;144;p25">
            <a:extLst>
              <a:ext uri="{FF2B5EF4-FFF2-40B4-BE49-F238E27FC236}">
                <a16:creationId xmlns:a16="http://schemas.microsoft.com/office/drawing/2014/main" id="{77E06B8E-28AE-BE76-3F71-4DFE8E042C65}"/>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Único a nivel mundial</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Conocer y utilizar GIT no es opcional. </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Todo programador debe de conocer la herramienta. Es el software mundial para entornos de desarrollo de software</a:t>
            </a:r>
            <a:endParaRPr dirty="0">
              <a:solidFill>
                <a:srgbClr val="1A1A1A"/>
              </a:solidFill>
            </a:endParaRPr>
          </a:p>
        </p:txBody>
      </p:sp>
    </p:spTree>
    <p:extLst>
      <p:ext uri="{BB962C8B-B14F-4D97-AF65-F5344CB8AC3E}">
        <p14:creationId xmlns:p14="http://schemas.microsoft.com/office/powerpoint/2010/main" val="1257031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su página web!</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000" dirty="0">
                <a:solidFill>
                  <a:srgbClr val="1A1A1A"/>
                </a:solidFill>
                <a:latin typeface="Inter Medium"/>
                <a:ea typeface="Inter Medium"/>
                <a:cs typeface="Inter Medium"/>
                <a:sym typeface="Inter Medium"/>
              </a:rPr>
              <a:t>Usaremos un dataset de ejemplo desde Kagle: </a:t>
            </a:r>
            <a:r>
              <a:rPr lang="es-CO" sz="2000" dirty="0">
                <a:solidFill>
                  <a:srgbClr val="1A1A1A"/>
                </a:solidFill>
                <a:latin typeface="Inter Medium"/>
                <a:ea typeface="Inter Medium"/>
                <a:cs typeface="Inter Medium"/>
                <a:sym typeface="Inter Medium"/>
                <a:hlinkClick r:id="rId4"/>
              </a:rPr>
              <a:t>https://www.kaggle.com/code/vikramb/mobile-price-prediction</a:t>
            </a:r>
            <a:r>
              <a:rPr lang="en" sz="2000" dirty="0">
                <a:solidFill>
                  <a:srgbClr val="1A1A1A"/>
                </a:solidFill>
                <a:latin typeface="Inter Medium"/>
                <a:ea typeface="Inter Medium"/>
                <a:cs typeface="Inter Medium"/>
                <a:sym typeface="Inter Medium"/>
              </a:rPr>
              <a:t> </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Creemos un nuevo repositorio, </a:t>
            </a:r>
            <a:r>
              <a:rPr lang="es-CO" sz="2000" dirty="0" err="1">
                <a:solidFill>
                  <a:srgbClr val="1A1A1A"/>
                </a:solidFill>
                <a:latin typeface="Inter Medium"/>
                <a:ea typeface="Inter Medium"/>
                <a:cs typeface="Inter Medium"/>
                <a:sym typeface="Inter Medium"/>
              </a:rPr>
              <a:t>clonemoslo</a:t>
            </a:r>
            <a:r>
              <a:rPr lang="es-CO" sz="2000" dirty="0">
                <a:solidFill>
                  <a:srgbClr val="1A1A1A"/>
                </a:solidFill>
                <a:latin typeface="Inter Medium"/>
                <a:ea typeface="Inter Medium"/>
                <a:cs typeface="Inter Medium"/>
                <a:sym typeface="Inter Medium"/>
              </a:rPr>
              <a:t> a nuestro local, creemos un notebook,</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Hagamos nuestro primer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y </a:t>
            </a:r>
            <a:r>
              <a:rPr lang="es-CO" sz="2000" dirty="0" err="1">
                <a:solidFill>
                  <a:srgbClr val="1A1A1A"/>
                </a:solidFill>
                <a:latin typeface="Inter Medium"/>
                <a:ea typeface="Inter Medium"/>
                <a:cs typeface="Inter Medium"/>
                <a:sym typeface="Inter Medium"/>
              </a:rPr>
              <a:t>psuh</a:t>
            </a:r>
            <a:r>
              <a:rPr lang="es-CO" sz="2000" dirty="0">
                <a:solidFill>
                  <a:srgbClr val="1A1A1A"/>
                </a:solidFill>
                <a:latin typeface="Inter Medium"/>
                <a:ea typeface="Inter Medium"/>
                <a:cs typeface="Inter Medium"/>
                <a:sym typeface="Inter Medium"/>
              </a:rPr>
              <a:t> al repositorio.</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err="1">
                <a:solidFill>
                  <a:srgbClr val="1A1A1A"/>
                </a:solidFill>
                <a:latin typeface="Inter Medium"/>
                <a:ea typeface="Inter Medium"/>
                <a:cs typeface="Inter Medium"/>
                <a:sym typeface="Inter Medium"/>
              </a:rPr>
              <a:t>Aprendiso</a:t>
            </a:r>
            <a:r>
              <a:rPr lang="es-CO" sz="1800" dirty="0">
                <a:solidFill>
                  <a:srgbClr val="1A1A1A"/>
                </a:solidFill>
                <a:latin typeface="Inter Medium"/>
                <a:ea typeface="Inter Medium"/>
                <a:cs typeface="Inter Medium"/>
                <a:sym typeface="Inter Medium"/>
              </a:rPr>
              <a:t> el uso y configuración de VS </a:t>
            </a:r>
            <a:r>
              <a:rPr lang="es-CO" sz="1800" dirty="0" err="1">
                <a:solidFill>
                  <a:srgbClr val="1A1A1A"/>
                </a:solidFill>
                <a:latin typeface="Inter Medium"/>
                <a:ea typeface="Inter Medium"/>
                <a:cs typeface="Inter Medium"/>
                <a:sym typeface="Inter Medium"/>
              </a:rPr>
              <a:t>Code</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Exploramos Jupyter</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Aprendimos a utilizar GIT</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703</TotalTime>
  <Words>1959</Words>
  <Application>Microsoft Office PowerPoint</Application>
  <PresentationFormat>Presentación en pantalla (16:9)</PresentationFormat>
  <Paragraphs>195</Paragraphs>
  <Slides>51</Slides>
  <Notes>51</Notes>
  <HiddenSlides>35</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51</vt:i4>
      </vt:variant>
    </vt:vector>
  </HeadingPairs>
  <TitlesOfParts>
    <vt:vector size="58" baseType="lpstr">
      <vt:lpstr>Inter Medium</vt:lpstr>
      <vt:lpstr>Roboto Mono</vt:lpstr>
      <vt:lpstr>Inter SemiBold</vt:lpstr>
      <vt:lpstr>Arial</vt:lpstr>
      <vt:lpstr>Inter ExtraBold</vt:lpstr>
      <vt:lpstr>Inter</vt:lpstr>
      <vt:lpstr>Simple Light</vt:lpstr>
      <vt:lpstr>Webinar 14 - Sprint 7 Ide - Git</vt:lpstr>
      <vt:lpstr>Agenda</vt:lpstr>
      <vt:lpstr>Acuerdos</vt:lpstr>
      <vt:lpstr>Objetivo</vt:lpstr>
      <vt:lpstr>Midamos los ánimos</vt:lpstr>
      <vt:lpstr>Recap</vt:lpstr>
      <vt:lpstr>¿Qué es un Anaconda?</vt:lpstr>
      <vt:lpstr>Vamos a su página web!</vt:lpstr>
      <vt:lpstr>¿Qué es un IDE?</vt:lpstr>
      <vt:lpstr>Vamos a su página web!</vt:lpstr>
      <vt:lpstr>¿Qué es GIT?</vt:lpstr>
      <vt:lpstr>Vamos a su página web!</vt:lpstr>
      <vt:lpstr>Creando un proyecto básico</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16</cp:revision>
  <dcterms:modified xsi:type="dcterms:W3CDTF">2025-03-16T16:10:42Z</dcterms:modified>
</cp:coreProperties>
</file>