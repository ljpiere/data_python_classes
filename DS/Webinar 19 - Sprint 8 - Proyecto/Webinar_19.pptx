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2"/>
  </p:notesMasterIdLst>
  <p:sldIdLst>
    <p:sldId id="256" r:id="rId2"/>
    <p:sldId id="258" r:id="rId3"/>
    <p:sldId id="305" r:id="rId4"/>
    <p:sldId id="275" r:id="rId5"/>
    <p:sldId id="278" r:id="rId6"/>
    <p:sldId id="264" r:id="rId7"/>
    <p:sldId id="311" r:id="rId8"/>
    <p:sldId id="326" r:id="rId9"/>
    <p:sldId id="316" r:id="rId10"/>
    <p:sldId id="327" r:id="rId11"/>
    <p:sldId id="320" r:id="rId12"/>
    <p:sldId id="304" r:id="rId13"/>
    <p:sldId id="306" r:id="rId14"/>
    <p:sldId id="281" r:id="rId15"/>
    <p:sldId id="274" r:id="rId16"/>
    <p:sldId id="263" r:id="rId17"/>
    <p:sldId id="265" r:id="rId18"/>
    <p:sldId id="266" r:id="rId19"/>
    <p:sldId id="267" r:id="rId20"/>
    <p:sldId id="268" r:id="rId21"/>
    <p:sldId id="269" r:id="rId22"/>
    <p:sldId id="270" r:id="rId23"/>
    <p:sldId id="271" r:id="rId24"/>
    <p:sldId id="272" r:id="rId25"/>
    <p:sldId id="273" r:id="rId26"/>
    <p:sldId id="276" r:id="rId27"/>
    <p:sldId id="279" r:id="rId28"/>
    <p:sldId id="28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5143500" type="screen16x9"/>
  <p:notesSz cx="6858000" cy="9144000"/>
  <p:embeddedFontLst>
    <p:embeddedFont>
      <p:font typeface="Inter" panose="020B0604020202020204" charset="0"/>
      <p:regular r:id="rId53"/>
      <p:bold r:id="rId54"/>
      <p:italic r:id="rId55"/>
      <p:boldItalic r:id="rId56"/>
    </p:embeddedFont>
    <p:embeddedFont>
      <p:font typeface="Inter ExtraBold" panose="020B0604020202020204" charset="0"/>
      <p:bold r:id="rId57"/>
      <p:boldItalic r:id="rId58"/>
    </p:embeddedFont>
    <p:embeddedFont>
      <p:font typeface="Inter Medium" panose="020B0604020202020204" charset="0"/>
      <p:regular r:id="rId59"/>
      <p:bold r:id="rId60"/>
      <p:italic r:id="rId61"/>
      <p:boldItalic r:id="rId62"/>
    </p:embeddedFont>
    <p:embeddedFont>
      <p:font typeface="Inter SemiBold" panose="020B0604020202020204" charset="0"/>
      <p:regular r:id="rId63"/>
      <p:bold r:id="rId64"/>
      <p:italic r:id="rId65"/>
      <p:boldItalic r:id="rId66"/>
    </p:embeddedFont>
    <p:embeddedFont>
      <p:font typeface="Roboto Mono" panose="00000009000000000000" pitchFamily="49"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34C332-4CEE-17F6-83E5-BD193F3BFD6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BA87B82-9237-82CA-F3A4-32EABEECC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5D79E13-2B7B-0E23-6764-03720D98A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33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17DB343-BE30-81A9-2A68-C7AC98F9A4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EA13EB8E-F9D8-67A7-E8D1-11F77015D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AC244B6D-ECB9-1136-0177-54E5D442A8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160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B5FA0A1-D267-86C9-8E9B-4AD479C5E086}"/>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AE5969DA-B09C-A3E5-31F3-BF217F4729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65615CB6-ECCF-805A-3ABF-16E2FA131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4601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hyperlink" Target="https://www.w3schools.com/sql/trysql.asp?filename=trysql_select_join_inner_pro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hyperlink" Target="https://practicum-content.s3.us-west-1.amazonaws.com/data-analyst-eng/moved_chicago_weather_2017.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31.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32.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32.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9.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4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4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5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19 - Sprint 8</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SQL – Proyecto del sprint</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JOIN con SQL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Opciones avanzadas de filtrado en SQL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práctica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Practicar las sentencias de unión entre tablas</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Interactuar con funciones de filtrado avanzadas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el proyecto del sprint</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Buscar valores en una tabla</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Para valores </a:t>
            </a:r>
            <a:r>
              <a:rPr lang="es-CO" sz="1600" b="1" dirty="0" err="1">
                <a:solidFill>
                  <a:srgbClr val="1A1A1A"/>
                </a:solidFill>
                <a:latin typeface="Inter"/>
                <a:ea typeface="Inter"/>
                <a:cs typeface="Inter"/>
                <a:sym typeface="Inter"/>
              </a:rPr>
              <a:t>vacios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Utilizando la función IS NULL en un atributo.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Contandolos usando COUNT(*) o el atributo.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Para otros valores, usaremos LIKE.</a:t>
            </a: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Modificando valores para hacer operaciones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s-ES" dirty="0">
                <a:solidFill>
                  <a:srgbClr val="1A1A1A"/>
                </a:solidFill>
                <a:latin typeface="Inter"/>
                <a:ea typeface="Inter"/>
                <a:sym typeface="Inter"/>
              </a:rPr>
              <a:t>Agrupando y haciendo operaciones (::real).</a:t>
            </a:r>
            <a:endParaRPr lang="es-ES" dirty="0">
              <a:solidFill>
                <a:srgbClr val="1A1A1A"/>
              </a:solidFill>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Agreando nuevas categorias con la función CASE.</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JOIN</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hlinkClick r:id="rId4"/>
              </a:rPr>
              <a:t>Recuerdan el merge en pandas?</a:t>
            </a:r>
            <a:endParaRPr lang="en"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Extra: Función CAST, HAVING, DISTINCT</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Unir declaraciones</a:t>
            </a:r>
          </a:p>
        </p:txBody>
      </p:sp>
    </p:spTree>
    <p:extLst>
      <p:ext uri="{BB962C8B-B14F-4D97-AF65-F5344CB8AC3E}">
        <p14:creationId xmlns:p14="http://schemas.microsoft.com/office/powerpoint/2010/main" val="42297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52F296C-0E29-3E49-1571-ABBA6421E72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D80383A-25F9-9B14-EFBE-23F434776F9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DEBD199-7431-5D9F-CF7E-020DA5A0FDAE}"/>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SQL Unions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19187722-7ECC-F959-5091-981DE1B6A438}"/>
              </a:ext>
            </a:extLst>
          </p:cNvPr>
          <p:cNvPicPr>
            <a:picLocks noChangeAspect="1"/>
          </p:cNvPicPr>
          <p:nvPr/>
        </p:nvPicPr>
        <p:blipFill>
          <a:blip r:embed="rId4"/>
          <a:stretch>
            <a:fillRect/>
          </a:stretch>
        </p:blipFill>
        <p:spPr>
          <a:xfrm>
            <a:off x="2013385" y="1225164"/>
            <a:ext cx="5117229" cy="3918336"/>
          </a:xfrm>
          <a:prstGeom prst="rect">
            <a:avLst/>
          </a:prstGeom>
        </p:spPr>
      </p:pic>
    </p:spTree>
    <p:extLst>
      <p:ext uri="{BB962C8B-B14F-4D97-AF65-F5344CB8AC3E}">
        <p14:creationId xmlns:p14="http://schemas.microsoft.com/office/powerpoint/2010/main" val="4259602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6C6D9BA1-FE1F-6B42-2D98-94AFDE79D2BF}"/>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9A866D60-439B-DD1B-5DD8-F0CE74FDCB31}"/>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5DE0D141-4070-0354-4EA0-7B455C4261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Proyecto</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03D8239-6D09-BC48-2020-E428EDE2952D}"/>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Primer paso: Extraer valores de un HTML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Realizar un script de python para extraer valores de un html e incorporar pandas.</a:t>
            </a: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hlinkClick r:id="rId4"/>
              </a:rPr>
              <a:t>Hagamos un ejercicio práctico.</a:t>
            </a:r>
            <a:endParaRPr lang="en" dirty="0">
              <a:solidFill>
                <a:srgbClr val="1A1A1A"/>
              </a:solidFill>
              <a:latin typeface="Inter"/>
              <a:ea typeface="Inter"/>
              <a:sym typeface="Inter"/>
            </a:endParaRPr>
          </a:p>
        </p:txBody>
      </p:sp>
      <p:sp>
        <p:nvSpPr>
          <p:cNvPr id="143" name="Google Shape;143;p25">
            <a:extLst>
              <a:ext uri="{FF2B5EF4-FFF2-40B4-BE49-F238E27FC236}">
                <a16:creationId xmlns:a16="http://schemas.microsoft.com/office/drawing/2014/main" id="{A9E0B477-17EE-2399-4659-CBE336B2D7D4}"/>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Segundo paso: EDA usando SQL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s-CO" dirty="0">
                <a:solidFill>
                  <a:srgbClr val="1A1A1A"/>
                </a:solidFill>
                <a:latin typeface="Inter"/>
                <a:ea typeface="Inter"/>
                <a:sym typeface="Inter"/>
              </a:rPr>
              <a:t>Exploremos el ejercicio y entendamos la relación de las tablas.</a:t>
            </a:r>
            <a:endParaRPr dirty="0">
              <a:solidFill>
                <a:srgbClr val="1A1A1A"/>
              </a:solidFill>
            </a:endParaRPr>
          </a:p>
        </p:txBody>
      </p:sp>
      <p:sp>
        <p:nvSpPr>
          <p:cNvPr id="144" name="Google Shape;144;p25">
            <a:extLst>
              <a:ext uri="{FF2B5EF4-FFF2-40B4-BE49-F238E27FC236}">
                <a16:creationId xmlns:a16="http://schemas.microsoft.com/office/drawing/2014/main" id="{1B7EFD2D-75E1-D136-54B8-DFD9ED90394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Tercer paso: EDA con </a:t>
            </a:r>
            <a:r>
              <a:rPr lang="es-CO" sz="1600" b="1" dirty="0" err="1">
                <a:solidFill>
                  <a:srgbClr val="1A1A1A"/>
                </a:solidFill>
                <a:latin typeface="Inter"/>
                <a:ea typeface="Inter"/>
                <a:cs typeface="Inter"/>
                <a:sym typeface="Inter"/>
              </a:rPr>
              <a:t>python</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Recuerdan el merge en pandas?</a:t>
            </a:r>
          </a:p>
          <a:p>
            <a:pPr marL="0" lvl="0" indent="0" algn="l" rtl="0">
              <a:lnSpc>
                <a:spcPct val="115000"/>
              </a:lnSpc>
              <a:spcBef>
                <a:spcPts val="1200"/>
              </a:spcBef>
              <a:spcAft>
                <a:spcPts val="1200"/>
              </a:spcAft>
              <a:buNone/>
            </a:pPr>
            <a:endParaRPr lang="en" dirty="0">
              <a:solidFill>
                <a:srgbClr val="1A1A1A"/>
              </a:solidFill>
              <a:latin typeface="Inter"/>
              <a:ea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Extra: Función CAST, HAVING, DISTINCT</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Unir declaraciones</a:t>
            </a:r>
          </a:p>
        </p:txBody>
      </p:sp>
    </p:spTree>
    <p:extLst>
      <p:ext uri="{BB962C8B-B14F-4D97-AF65-F5344CB8AC3E}">
        <p14:creationId xmlns:p14="http://schemas.microsoft.com/office/powerpoint/2010/main" val="6319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38E8F892-EC30-FB92-0F4B-93919A4F7D0A}"/>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6AFB5E61-77CB-E92B-9C2F-CC3CAB16C399}"/>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Revisemos una propuesta</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002ACAEA-15BC-8765-9581-47D5A98EBDBE}"/>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86555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Qué sintaxis SQL te llevas?</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Hagamos un resumen de cómo hacer un EDA en python.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Como te sientes con el proyecto?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901</TotalTime>
  <Words>1731</Words>
  <Application>Microsoft Office PowerPoint</Application>
  <PresentationFormat>Presentación en pantalla (16:9)</PresentationFormat>
  <Paragraphs>193</Paragraphs>
  <Slides>50</Slides>
  <Notes>50</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50</vt:i4>
      </vt:variant>
    </vt:vector>
  </HeadingPairs>
  <TitlesOfParts>
    <vt:vector size="57" baseType="lpstr">
      <vt:lpstr>Arial</vt:lpstr>
      <vt:lpstr>Inter Medium</vt:lpstr>
      <vt:lpstr>Inter ExtraBold</vt:lpstr>
      <vt:lpstr>Roboto Mono</vt:lpstr>
      <vt:lpstr>Inter SemiBold</vt:lpstr>
      <vt:lpstr>Inter</vt:lpstr>
      <vt:lpstr>Simple Light</vt:lpstr>
      <vt:lpstr>Webinar 19 - Sprint 8 SQL – Proyecto del sprint</vt:lpstr>
      <vt:lpstr>Agenda</vt:lpstr>
      <vt:lpstr>Acuerdos</vt:lpstr>
      <vt:lpstr>Objetivo</vt:lpstr>
      <vt:lpstr>Midamos los ánimos</vt:lpstr>
      <vt:lpstr>Recap</vt:lpstr>
      <vt:lpstr>Buscar valores en una tabla</vt:lpstr>
      <vt:lpstr>SQL Unions</vt:lpstr>
      <vt:lpstr>Vamos un ejemplo!</vt:lpstr>
      <vt:lpstr>Proyecto</vt:lpstr>
      <vt:lpstr>Revisemos una propuesta</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20</cp:revision>
  <dcterms:modified xsi:type="dcterms:W3CDTF">2025-05-05T01:07:38Z</dcterms:modified>
</cp:coreProperties>
</file>