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8"/>
  </p:notesMasterIdLst>
  <p:sldIdLst>
    <p:sldId id="256" r:id="rId2"/>
    <p:sldId id="258" r:id="rId3"/>
    <p:sldId id="305" r:id="rId4"/>
    <p:sldId id="275" r:id="rId5"/>
    <p:sldId id="278" r:id="rId6"/>
    <p:sldId id="264" r:id="rId7"/>
    <p:sldId id="329" r:id="rId8"/>
    <p:sldId id="330" r:id="rId9"/>
    <p:sldId id="331" r:id="rId10"/>
    <p:sldId id="336" r:id="rId11"/>
    <p:sldId id="332" r:id="rId12"/>
    <p:sldId id="338" r:id="rId13"/>
    <p:sldId id="337" r:id="rId14"/>
    <p:sldId id="333" r:id="rId15"/>
    <p:sldId id="334" r:id="rId16"/>
    <p:sldId id="335" r:id="rId17"/>
    <p:sldId id="316" r:id="rId18"/>
    <p:sldId id="304" r:id="rId19"/>
    <p:sldId id="306" r:id="rId20"/>
    <p:sldId id="281" r:id="rId21"/>
    <p:sldId id="274" r:id="rId22"/>
    <p:sldId id="263" r:id="rId23"/>
    <p:sldId id="265" r:id="rId24"/>
    <p:sldId id="266" r:id="rId25"/>
    <p:sldId id="267" r:id="rId26"/>
    <p:sldId id="268" r:id="rId27"/>
    <p:sldId id="269" r:id="rId28"/>
    <p:sldId id="270" r:id="rId29"/>
    <p:sldId id="271" r:id="rId30"/>
    <p:sldId id="272" r:id="rId31"/>
    <p:sldId id="273" r:id="rId32"/>
    <p:sldId id="276" r:id="rId33"/>
    <p:sldId id="279" r:id="rId34"/>
    <p:sldId id="280"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Lst>
  <p:sldSz cx="9144000" cy="5143500" type="screen16x9"/>
  <p:notesSz cx="6858000" cy="9144000"/>
  <p:embeddedFontLst>
    <p:embeddedFont>
      <p:font typeface="Inter" panose="020B0604020202020204" charset="0"/>
      <p:regular r:id="rId59"/>
      <p:bold r:id="rId60"/>
      <p:italic r:id="rId61"/>
      <p:boldItalic r:id="rId62"/>
    </p:embeddedFont>
    <p:embeddedFont>
      <p:font typeface="Inter ExtraBold" panose="020B0604020202020204" charset="0"/>
      <p:bold r:id="rId63"/>
      <p:boldItalic r:id="rId64"/>
    </p:embeddedFont>
    <p:embeddedFont>
      <p:font typeface="Inter Medium" panose="020B0604020202020204" charset="0"/>
      <p:regular r:id="rId65"/>
      <p:bold r:id="rId66"/>
      <p:italic r:id="rId67"/>
      <p:boldItalic r:id="rId68"/>
    </p:embeddedFont>
    <p:embeddedFont>
      <p:font typeface="Inter SemiBold" panose="020B0604020202020204" charset="0"/>
      <p:regular r:id="rId69"/>
      <p:bold r:id="rId70"/>
      <p:italic r:id="rId71"/>
      <p:boldItalic r:id="rId72"/>
    </p:embeddedFont>
    <p:embeddedFont>
      <p:font typeface="Roboto Mono" panose="00000009000000000000" pitchFamily="49"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font" Target="fonts/font10.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font" Target="fonts/font8.fntdata"/><Relationship Id="rId74" Type="http://schemas.openxmlformats.org/officeDocument/2006/relationships/font" Target="fonts/font16.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font" Target="fonts/font11.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4.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font" Target="fonts/font13.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56B7BEE-51CC-D9EA-726B-9A4285CED02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E4B52493-EE72-C039-33F3-A5C60AB18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E38A3A1F-6259-0CC1-58AE-D218382ADD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3201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945E6D8-F7AF-6E35-17B6-FCFD0A2C445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70914D45-9075-002A-E896-0E1F155C59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59948B2C-017B-14BB-EABA-3EB2CF73DA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9665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63A4127-4E37-A13B-2E91-85D51D0A50D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04486E8F-D64E-3567-3550-612DE69A5E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5F6A36A-17C8-BA15-A59B-7BECA4BAD3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7492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992300F-2A62-8671-5684-65616143D03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C7FDECC-8B24-355E-F634-0E5FB85768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0BD1FC45-8B3B-6CDA-D32C-6A74132716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024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CA854B0-FD7C-A547-8ACD-8EE02381D010}"/>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D5DDC3B9-5B89-1088-A0AF-D2648780A2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85EA090C-284D-4C1E-142E-4D2FE73FDF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0615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5D717C8-E515-5114-587F-F424556D785E}"/>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CC728E30-300E-8C3C-FBB0-BE1FD9CAD2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32FA28B3-1A1E-6ED1-702B-A96E27FFCC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501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6E08BC9-DE05-A229-AF87-F50819914C14}"/>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004D3FAF-D5BD-D0F7-4A8B-BE72CFFAC0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9302018A-E9C3-57AE-034C-714A6C97CA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533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E3F7CB1-6CBD-8737-0FDC-E5B803ED9FD8}"/>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048C5626-3E1A-3B88-0D4D-383EEE25E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700C47F1-EDEE-F72D-A39E-7218E8951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5007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B0F00BF-A4E6-3548-BA0D-04198FFE8E7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3674042-182B-CD5A-4774-176ABBBB7D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862C977B-C5D6-61C1-E1F1-5112EEFC25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87987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34" Type="http://schemas.openxmlformats.org/officeDocument/2006/relationships/image" Target="../media/image47.png"/><Relationship Id="rId42" Type="http://schemas.openxmlformats.org/officeDocument/2006/relationships/image" Target="../media/image55.png"/><Relationship Id="rId47" Type="http://schemas.openxmlformats.org/officeDocument/2006/relationships/image" Target="../media/image60.png"/><Relationship Id="rId50" Type="http://schemas.openxmlformats.org/officeDocument/2006/relationships/image" Target="../media/image63.png"/><Relationship Id="rId55" Type="http://schemas.openxmlformats.org/officeDocument/2006/relationships/image" Target="../media/image68.png"/><Relationship Id="rId63" Type="http://schemas.openxmlformats.org/officeDocument/2006/relationships/image" Target="../media/image75.png"/><Relationship Id="rId68" Type="http://schemas.openxmlformats.org/officeDocument/2006/relationships/image" Target="../media/image80.png"/><Relationship Id="rId7" Type="http://schemas.openxmlformats.org/officeDocument/2006/relationships/image" Target="../media/image20.png"/><Relationship Id="rId2" Type="http://schemas.openxmlformats.org/officeDocument/2006/relationships/notesSlide" Target="../notesSlides/notesSlide37.xml"/><Relationship Id="rId16" Type="http://schemas.openxmlformats.org/officeDocument/2006/relationships/image" Target="../media/image29.png"/><Relationship Id="rId29" Type="http://schemas.openxmlformats.org/officeDocument/2006/relationships/image" Target="../media/image42.png"/><Relationship Id="rId11" Type="http://schemas.openxmlformats.org/officeDocument/2006/relationships/image" Target="../media/image24.png"/><Relationship Id="rId24" Type="http://schemas.openxmlformats.org/officeDocument/2006/relationships/image" Target="../media/image37.png"/><Relationship Id="rId32" Type="http://schemas.openxmlformats.org/officeDocument/2006/relationships/image" Target="../media/image45.png"/><Relationship Id="rId37" Type="http://schemas.openxmlformats.org/officeDocument/2006/relationships/image" Target="../media/image50.png"/><Relationship Id="rId40" Type="http://schemas.openxmlformats.org/officeDocument/2006/relationships/image" Target="../media/image53.png"/><Relationship Id="rId45" Type="http://schemas.openxmlformats.org/officeDocument/2006/relationships/image" Target="../media/image58.png"/><Relationship Id="rId53" Type="http://schemas.openxmlformats.org/officeDocument/2006/relationships/image" Target="../media/image66.png"/><Relationship Id="rId58" Type="http://schemas.openxmlformats.org/officeDocument/2006/relationships/image" Target="../media/image12.png"/><Relationship Id="rId66" Type="http://schemas.openxmlformats.org/officeDocument/2006/relationships/image" Target="../media/image78.png"/><Relationship Id="rId5" Type="http://schemas.openxmlformats.org/officeDocument/2006/relationships/image" Target="../media/image18.png"/><Relationship Id="rId61" Type="http://schemas.openxmlformats.org/officeDocument/2006/relationships/image" Target="../media/image73.png"/><Relationship Id="rId19" Type="http://schemas.openxmlformats.org/officeDocument/2006/relationships/image" Target="../media/image3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3.png"/><Relationship Id="rId35" Type="http://schemas.openxmlformats.org/officeDocument/2006/relationships/image" Target="../media/image48.png"/><Relationship Id="rId43" Type="http://schemas.openxmlformats.org/officeDocument/2006/relationships/image" Target="../media/image56.png"/><Relationship Id="rId48" Type="http://schemas.openxmlformats.org/officeDocument/2006/relationships/image" Target="../media/image61.png"/><Relationship Id="rId56" Type="http://schemas.openxmlformats.org/officeDocument/2006/relationships/image" Target="../media/image69.png"/><Relationship Id="rId64" Type="http://schemas.openxmlformats.org/officeDocument/2006/relationships/image" Target="../media/image76.png"/><Relationship Id="rId8" Type="http://schemas.openxmlformats.org/officeDocument/2006/relationships/image" Target="../media/image21.png"/><Relationship Id="rId51" Type="http://schemas.openxmlformats.org/officeDocument/2006/relationships/image" Target="../media/image64.png"/><Relationship Id="rId3" Type="http://schemas.openxmlformats.org/officeDocument/2006/relationships/image" Target="../media/image16.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33" Type="http://schemas.openxmlformats.org/officeDocument/2006/relationships/image" Target="../media/image46.pn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1.png"/><Relationship Id="rId67" Type="http://schemas.openxmlformats.org/officeDocument/2006/relationships/image" Target="../media/image79.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png"/><Relationship Id="rId6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36" Type="http://schemas.openxmlformats.org/officeDocument/2006/relationships/image" Target="../media/image49.png"/><Relationship Id="rId49" Type="http://schemas.openxmlformats.org/officeDocument/2006/relationships/image" Target="../media/image62.png"/><Relationship Id="rId57" Type="http://schemas.openxmlformats.org/officeDocument/2006/relationships/image" Target="../media/image70.pn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png"/><Relationship Id="rId52" Type="http://schemas.openxmlformats.org/officeDocument/2006/relationships/image" Target="../media/image65.png"/><Relationship Id="rId60" Type="http://schemas.openxmlformats.org/officeDocument/2006/relationships/image" Target="../media/image72.png"/><Relationship Id="rId65" Type="http://schemas.openxmlformats.org/officeDocument/2006/relationships/image" Target="../media/image77.png"/><Relationship Id="rId4" Type="http://schemas.openxmlformats.org/officeDocument/2006/relationships/image" Target="../media/image17.png"/><Relationship Id="rId9" Type="http://schemas.openxmlformats.org/officeDocument/2006/relationships/image" Target="../media/image22.pn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s>
</file>

<file path=ppt/slides/_rels/slide38.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9" Type="http://schemas.openxmlformats.org/officeDocument/2006/relationships/image" Target="../media/image117.png"/><Relationship Id="rId21" Type="http://schemas.openxmlformats.org/officeDocument/2006/relationships/image" Target="../media/image99.png"/><Relationship Id="rId34" Type="http://schemas.openxmlformats.org/officeDocument/2006/relationships/image" Target="../media/image112.png"/><Relationship Id="rId42" Type="http://schemas.openxmlformats.org/officeDocument/2006/relationships/image" Target="../media/image120.png"/><Relationship Id="rId47" Type="http://schemas.openxmlformats.org/officeDocument/2006/relationships/image" Target="../media/image125.png"/><Relationship Id="rId50" Type="http://schemas.openxmlformats.org/officeDocument/2006/relationships/image" Target="../media/image128.png"/><Relationship Id="rId55" Type="http://schemas.openxmlformats.org/officeDocument/2006/relationships/image" Target="../media/image133.png"/><Relationship Id="rId63" Type="http://schemas.openxmlformats.org/officeDocument/2006/relationships/image" Target="../media/image141.png"/><Relationship Id="rId7" Type="http://schemas.openxmlformats.org/officeDocument/2006/relationships/image" Target="../media/image85.png"/><Relationship Id="rId2" Type="http://schemas.openxmlformats.org/officeDocument/2006/relationships/notesSlide" Target="../notesSlides/notesSlide38.xml"/><Relationship Id="rId16" Type="http://schemas.openxmlformats.org/officeDocument/2006/relationships/image" Target="../media/image94.png"/><Relationship Id="rId29" Type="http://schemas.openxmlformats.org/officeDocument/2006/relationships/image" Target="../media/image107.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37" Type="http://schemas.openxmlformats.org/officeDocument/2006/relationships/image" Target="../media/image115.png"/><Relationship Id="rId40" Type="http://schemas.openxmlformats.org/officeDocument/2006/relationships/image" Target="../media/image118.png"/><Relationship Id="rId45" Type="http://schemas.openxmlformats.org/officeDocument/2006/relationships/image" Target="../media/image123.png"/><Relationship Id="rId53" Type="http://schemas.openxmlformats.org/officeDocument/2006/relationships/image" Target="../media/image131.png"/><Relationship Id="rId58" Type="http://schemas.openxmlformats.org/officeDocument/2006/relationships/image" Target="../media/image136.png"/><Relationship Id="rId5" Type="http://schemas.openxmlformats.org/officeDocument/2006/relationships/image" Target="../media/image83.png"/><Relationship Id="rId61" Type="http://schemas.openxmlformats.org/officeDocument/2006/relationships/image" Target="../media/image139.png"/><Relationship Id="rId19" Type="http://schemas.openxmlformats.org/officeDocument/2006/relationships/image" Target="../media/image9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 Id="rId35" Type="http://schemas.openxmlformats.org/officeDocument/2006/relationships/image" Target="../media/image113.png"/><Relationship Id="rId43" Type="http://schemas.openxmlformats.org/officeDocument/2006/relationships/image" Target="../media/image121.png"/><Relationship Id="rId48" Type="http://schemas.openxmlformats.org/officeDocument/2006/relationships/image" Target="../media/image126.png"/><Relationship Id="rId56" Type="http://schemas.openxmlformats.org/officeDocument/2006/relationships/image" Target="../media/image134.png"/><Relationship Id="rId8" Type="http://schemas.openxmlformats.org/officeDocument/2006/relationships/image" Target="../media/image86.png"/><Relationship Id="rId51" Type="http://schemas.openxmlformats.org/officeDocument/2006/relationships/image" Target="../media/image129.png"/><Relationship Id="rId3" Type="http://schemas.openxmlformats.org/officeDocument/2006/relationships/image" Target="../media/image8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33" Type="http://schemas.openxmlformats.org/officeDocument/2006/relationships/image" Target="../media/image111.png"/><Relationship Id="rId38" Type="http://schemas.openxmlformats.org/officeDocument/2006/relationships/image" Target="../media/image116.png"/><Relationship Id="rId46" Type="http://schemas.openxmlformats.org/officeDocument/2006/relationships/image" Target="../media/image124.png"/><Relationship Id="rId59" Type="http://schemas.openxmlformats.org/officeDocument/2006/relationships/image" Target="../media/image137.png"/><Relationship Id="rId20" Type="http://schemas.openxmlformats.org/officeDocument/2006/relationships/image" Target="../media/image98.png"/><Relationship Id="rId41" Type="http://schemas.openxmlformats.org/officeDocument/2006/relationships/image" Target="../media/image119.png"/><Relationship Id="rId54" Type="http://schemas.openxmlformats.org/officeDocument/2006/relationships/image" Target="../media/image132.png"/><Relationship Id="rId62"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84.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36" Type="http://schemas.openxmlformats.org/officeDocument/2006/relationships/image" Target="../media/image114.png"/><Relationship Id="rId49" Type="http://schemas.openxmlformats.org/officeDocument/2006/relationships/image" Target="../media/image127.png"/><Relationship Id="rId57" Type="http://schemas.openxmlformats.org/officeDocument/2006/relationships/image" Target="../media/image135.png"/><Relationship Id="rId10" Type="http://schemas.openxmlformats.org/officeDocument/2006/relationships/image" Target="../media/image88.png"/><Relationship Id="rId31" Type="http://schemas.openxmlformats.org/officeDocument/2006/relationships/image" Target="../media/image109.png"/><Relationship Id="rId44" Type="http://schemas.openxmlformats.org/officeDocument/2006/relationships/image" Target="../media/image122.png"/><Relationship Id="rId52" Type="http://schemas.openxmlformats.org/officeDocument/2006/relationships/image" Target="../media/image130.png"/><Relationship Id="rId60" Type="http://schemas.openxmlformats.org/officeDocument/2006/relationships/image" Target="../media/image138.png"/><Relationship Id="rId4" Type="http://schemas.openxmlformats.org/officeDocument/2006/relationships/image" Target="../media/image82.png"/><Relationship Id="rId9" Type="http://schemas.openxmlformats.org/officeDocument/2006/relationships/image" Target="../media/image87.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4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3.xml"/><Relationship Id="rId1" Type="http://schemas.openxmlformats.org/officeDocument/2006/relationships/slideLayout" Target="../slideLayouts/slideLayout11.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56.png"/></Relationships>
</file>

<file path=ppt/slides/_rels/slide4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59.png"/><Relationship Id="rId4" Type="http://schemas.openxmlformats.org/officeDocument/2006/relationships/image" Target="../media/image158.png"/></Relationships>
</file>

<file path=ppt/slides/_rels/slide4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62.png"/><Relationship Id="rId4" Type="http://schemas.openxmlformats.org/officeDocument/2006/relationships/image" Target="../media/image161.png"/></Relationships>
</file>

<file path=ppt/slides/_rels/slide4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64.png"/></Relationships>
</file>

<file path=ppt/slides/_rels/slide4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66.png"/></Relationships>
</file>

<file path=ppt/slides/_rels/slide4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2.xml"/><Relationship Id="rId1" Type="http://schemas.openxmlformats.org/officeDocument/2006/relationships/slideLayout" Target="../slideLayouts/slideLayout11.xml"/><Relationship Id="rId5" Type="http://schemas.openxmlformats.org/officeDocument/2006/relationships/image" Target="../media/image172.png"/><Relationship Id="rId4" Type="http://schemas.openxmlformats.org/officeDocument/2006/relationships/image" Target="../media/image171.png"/></Relationships>
</file>

<file path=ppt/slides/_rels/slide5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74.png"/></Relationships>
</file>

<file path=ppt/slides/_rels/slide5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4.xml"/><Relationship Id="rId1" Type="http://schemas.openxmlformats.org/officeDocument/2006/relationships/slideLayout" Target="../slideLayouts/slideLayout11.xml"/><Relationship Id="rId4" Type="http://schemas.openxmlformats.org/officeDocument/2006/relationships/image" Target="../media/image176.png"/></Relationships>
</file>

<file path=ppt/slides/_rels/slide5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5.xml"/><Relationship Id="rId1" Type="http://schemas.openxmlformats.org/officeDocument/2006/relationships/slideLayout" Target="../slideLayouts/slideLayout11.xml"/><Relationship Id="rId5" Type="http://schemas.openxmlformats.org/officeDocument/2006/relationships/image" Target="../media/image179.png"/><Relationship Id="rId4" Type="http://schemas.openxmlformats.org/officeDocument/2006/relationships/image" Target="../media/image178.png"/></Relationships>
</file>

<file path=ppt/slides/_rels/slide5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6.xml"/><Relationship Id="rId1" Type="http://schemas.openxmlformats.org/officeDocument/2006/relationships/slideLayout" Target="../slideLayouts/slideLayout11.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24 - Sprint 11</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Validación cruzada</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Busqueda</a:t>
            </a:r>
            <a:r>
              <a:rPr lang="es-CO" sz="2400" dirty="0">
                <a:solidFill>
                  <a:srgbClr val="1A1A1A"/>
                </a:solidFill>
                <a:latin typeface="Inter"/>
                <a:ea typeface="Inter"/>
                <a:cs typeface="Inter"/>
                <a:sym typeface="Inter"/>
              </a:rPr>
              <a:t> de </a:t>
            </a:r>
            <a:r>
              <a:rPr lang="es-CO" sz="2400" dirty="0" err="1">
                <a:solidFill>
                  <a:srgbClr val="1A1A1A"/>
                </a:solidFill>
                <a:latin typeface="Inter"/>
                <a:ea typeface="Inter"/>
                <a:cs typeface="Inter"/>
                <a:sym typeface="Inter"/>
              </a:rPr>
              <a:t>datasets</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Etiquetado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Validación cruzada</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Conocer fuentes de información</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Aplicar técnicas de validación cruzada.</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Experimentar distintas combinaciones de validación cruzada.</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Encontrando patrones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964F1D4-4B54-B909-0D51-6A71AC46F30D}"/>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A2403FF0-5B8A-AA64-EB59-29D1A41EBBC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E653C47-7291-1681-F97A-065CD9C7E18D}"/>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Ajuste</a:t>
            </a:r>
            <a:endParaRPr sz="4000" dirty="0">
              <a:solidFill>
                <a:srgbClr val="1A1A1A"/>
              </a:solidFill>
              <a:latin typeface="Inter ExtraBold"/>
              <a:ea typeface="Inter ExtraBold"/>
              <a:cs typeface="Inter ExtraBold"/>
              <a:sym typeface="Inter ExtraBold"/>
            </a:endParaRPr>
          </a:p>
        </p:txBody>
      </p:sp>
      <p:pic>
        <p:nvPicPr>
          <p:cNvPr id="1026" name="Picture 2" descr="Azure Machine Learning] Sobreajuste y subajuste (Overﬁtting and  Underﬁtting) | Epicalsoft — Superheroic Software Development Blog">
            <a:extLst>
              <a:ext uri="{FF2B5EF4-FFF2-40B4-BE49-F238E27FC236}">
                <a16:creationId xmlns:a16="http://schemas.microsoft.com/office/drawing/2014/main" id="{F2FA7CF5-4617-19CA-5CA2-E156092E91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183" y="1525076"/>
            <a:ext cx="8523633" cy="284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51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A31F5D25-17F8-4A10-D01D-4BA10E2BD5A8}"/>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70EFCB3B-6F97-47E4-A087-52E94895F8D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1C8F01D-FCCF-4F2D-5CEE-2F1F909052F1}"/>
              </a:ext>
            </a:extLst>
          </p:cNvPr>
          <p:cNvSpPr txBox="1">
            <a:spLocks noGrp="1"/>
          </p:cNvSpPr>
          <p:nvPr>
            <p:ph type="ctrTitle"/>
          </p:nvPr>
        </p:nvSpPr>
        <p:spPr>
          <a:xfrm>
            <a:off x="96875" y="1556102"/>
            <a:ext cx="852060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Como garanticemos que nuestros </a:t>
            </a:r>
            <a:r>
              <a:rPr lang="es-CO" sz="4000" dirty="0" err="1">
                <a:solidFill>
                  <a:srgbClr val="1A1A1A"/>
                </a:solidFill>
                <a:latin typeface="Inter ExtraBold"/>
                <a:ea typeface="Inter ExtraBold"/>
                <a:cs typeface="Inter ExtraBold"/>
                <a:sym typeface="Inter ExtraBold"/>
              </a:rPr>
              <a:t>train</a:t>
            </a:r>
            <a:r>
              <a:rPr lang="es-CO" sz="4000" dirty="0">
                <a:solidFill>
                  <a:srgbClr val="1A1A1A"/>
                </a:solidFill>
                <a:latin typeface="Inter ExtraBold"/>
                <a:ea typeface="Inter ExtraBold"/>
                <a:cs typeface="Inter ExtraBold"/>
                <a:sym typeface="Inter ExtraBold"/>
              </a:rPr>
              <a:t>/test estén “nivelados”?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610539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4A3EDB2C-4D5F-E129-B9E8-4D2E1B65539A}"/>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486A2FDA-18C3-6105-B6A1-63C193F606A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6F3C7EFE-C6A0-346B-A52D-CA5FB93D4E24}"/>
              </a:ext>
            </a:extLst>
          </p:cNvPr>
          <p:cNvSpPr txBox="1">
            <a:spLocks noGrp="1"/>
          </p:cNvSpPr>
          <p:nvPr>
            <p:ph type="ctrTitle"/>
          </p:nvPr>
        </p:nvSpPr>
        <p:spPr>
          <a:xfrm>
            <a:off x="228600" y="1248326"/>
            <a:ext cx="8520600"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Objetivo:</a:t>
            </a:r>
            <a:br>
              <a:rPr lang="es-CO" sz="4000" dirty="0">
                <a:solidFill>
                  <a:srgbClr val="1A1A1A"/>
                </a:solidFill>
                <a:latin typeface="Inter ExtraBold"/>
                <a:ea typeface="Inter ExtraBold"/>
                <a:cs typeface="Inter ExtraBold"/>
                <a:sym typeface="Inter ExtraBold"/>
              </a:rPr>
            </a:br>
            <a:r>
              <a:rPr lang="es-CO" sz="4000" dirty="0">
                <a:solidFill>
                  <a:srgbClr val="1A1A1A"/>
                </a:solidFill>
                <a:latin typeface="Inter ExtraBold"/>
                <a:ea typeface="Inter ExtraBold"/>
                <a:cs typeface="Inter ExtraBold"/>
                <a:sym typeface="Inter ExtraBold"/>
              </a:rPr>
              <a:t>- Entrenar con una visión “global”</a:t>
            </a:r>
            <a:br>
              <a:rPr lang="es-CO" sz="4000" dirty="0">
                <a:solidFill>
                  <a:srgbClr val="1A1A1A"/>
                </a:solidFill>
                <a:latin typeface="Inter ExtraBold"/>
                <a:ea typeface="Inter ExtraBold"/>
                <a:cs typeface="Inter ExtraBold"/>
                <a:sym typeface="Inter ExtraBold"/>
              </a:rPr>
            </a:br>
            <a:r>
              <a:rPr lang="es-CO" sz="4000" dirty="0">
                <a:solidFill>
                  <a:srgbClr val="1A1A1A"/>
                </a:solidFill>
                <a:latin typeface="Inter ExtraBold"/>
                <a:ea typeface="Inter ExtraBold"/>
                <a:cs typeface="Inter ExtraBold"/>
                <a:sym typeface="Inter ExtraBold"/>
              </a:rPr>
              <a:t>- Validar con una visión “global”</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978184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BF5F9996-9236-A5DA-C6F0-C5D385AC89E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C1056E52-554F-B6BF-0B07-E48BC36DCEB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1BD7E96B-C1CF-0127-B410-EB31B46C1FC7}"/>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Recordemos el </a:t>
            </a:r>
            <a:r>
              <a:rPr lang="es-CO" sz="4000" dirty="0" err="1">
                <a:solidFill>
                  <a:srgbClr val="1A1A1A"/>
                </a:solidFill>
                <a:latin typeface="Inter ExtraBold"/>
                <a:ea typeface="Inter ExtraBold"/>
                <a:cs typeface="Inter ExtraBold"/>
                <a:sym typeface="Inter ExtraBold"/>
              </a:rPr>
              <a:t>gridsearch</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987917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EC1C397-3D1D-FBA1-FF71-BF11332CE10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A44BE370-CD4C-B702-DFDA-E17950C0C6B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E6829967-F94E-3872-761F-AD20785327F2}"/>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Hagamos lo mismo con </a:t>
            </a:r>
            <a:r>
              <a:rPr lang="es-CO" sz="4000" dirty="0" err="1">
                <a:solidFill>
                  <a:srgbClr val="1A1A1A"/>
                </a:solidFill>
                <a:latin typeface="Inter ExtraBold"/>
                <a:ea typeface="Inter ExtraBold"/>
                <a:cs typeface="Inter ExtraBold"/>
                <a:sym typeface="Inter ExtraBold"/>
              </a:rPr>
              <a:t>train</a:t>
            </a:r>
            <a:r>
              <a:rPr lang="es-CO" sz="4000" dirty="0">
                <a:solidFill>
                  <a:srgbClr val="1A1A1A"/>
                </a:solidFill>
                <a:latin typeface="Inter ExtraBold"/>
                <a:ea typeface="Inter ExtraBold"/>
                <a:cs typeface="Inter ExtraBold"/>
                <a:sym typeface="Inter ExtraBold"/>
              </a:rPr>
              <a:t>/test</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416012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BD5971E6-EC7C-A403-EB24-E8297B74D4C3}"/>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A6588531-C58D-A0A6-B2AE-3BF9662434FF}"/>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64E5479-8441-999D-22C3-80BB763D74E3}"/>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Validación cruzada</a:t>
            </a:r>
            <a:endParaRPr sz="4000" dirty="0">
              <a:solidFill>
                <a:srgbClr val="1A1A1A"/>
              </a:solidFill>
              <a:latin typeface="Inter ExtraBold"/>
              <a:ea typeface="Inter ExtraBold"/>
              <a:cs typeface="Inter ExtraBold"/>
              <a:sym typeface="Inter ExtraBold"/>
            </a:endParaRPr>
          </a:p>
        </p:txBody>
      </p:sp>
      <p:pic>
        <p:nvPicPr>
          <p:cNvPr id="2050" name="Picture 2" descr="Capítulo 29 Validación cruzada | Introducción a la ciencia de datos">
            <a:extLst>
              <a:ext uri="{FF2B5EF4-FFF2-40B4-BE49-F238E27FC236}">
                <a16:creationId xmlns:a16="http://schemas.microsoft.com/office/drawing/2014/main" id="{B89539C3-30AD-D8CA-0648-887455EA99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8940" y="1383462"/>
            <a:ext cx="4826120" cy="3619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234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C652890-AA16-F8C2-C37A-9615E480B096}"/>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121F93F4-AF1E-9C23-6520-0C4605963D8B}"/>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94DF44F-E117-7150-FE4D-740AAF1C616F}"/>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K-</a:t>
            </a:r>
            <a:r>
              <a:rPr lang="es-CO" sz="4000" dirty="0" err="1">
                <a:solidFill>
                  <a:srgbClr val="1A1A1A"/>
                </a:solidFill>
                <a:latin typeface="Inter ExtraBold"/>
                <a:ea typeface="Inter ExtraBold"/>
                <a:cs typeface="Inter ExtraBold"/>
                <a:sym typeface="Inter ExtraBold"/>
              </a:rPr>
              <a:t>Fold</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52A25BF8-D177-87C1-EA41-9BE2D19277CA}"/>
              </a:ext>
            </a:extLst>
          </p:cNvPr>
          <p:cNvPicPr>
            <a:picLocks noChangeAspect="1"/>
          </p:cNvPicPr>
          <p:nvPr/>
        </p:nvPicPr>
        <p:blipFill>
          <a:blip r:embed="rId4"/>
          <a:stretch>
            <a:fillRect/>
          </a:stretch>
        </p:blipFill>
        <p:spPr>
          <a:xfrm>
            <a:off x="1226401" y="1225164"/>
            <a:ext cx="6691197" cy="3766188"/>
          </a:xfrm>
          <a:prstGeom prst="rect">
            <a:avLst/>
          </a:prstGeom>
        </p:spPr>
      </p:pic>
    </p:spTree>
    <p:extLst>
      <p:ext uri="{BB962C8B-B14F-4D97-AF65-F5344CB8AC3E}">
        <p14:creationId xmlns:p14="http://schemas.microsoft.com/office/powerpoint/2010/main" val="202974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4CCE3FC-7D52-4216-09BF-1206C918318F}"/>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41EC6534-37FD-5B60-FE04-9E206684F57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F6755942-C3C5-6715-0311-787589AABEA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err="1">
                <a:solidFill>
                  <a:srgbClr val="1A1A1A"/>
                </a:solidFill>
                <a:latin typeface="Inter ExtraBold"/>
                <a:ea typeface="Inter ExtraBold"/>
                <a:cs typeface="Inter ExtraBold"/>
                <a:sym typeface="Inter ExtraBold"/>
              </a:rPr>
              <a:t>Stratified</a:t>
            </a:r>
            <a:r>
              <a:rPr lang="es-CO" sz="4000" dirty="0">
                <a:solidFill>
                  <a:srgbClr val="1A1A1A"/>
                </a:solidFill>
                <a:latin typeface="Inter ExtraBold"/>
                <a:ea typeface="Inter ExtraBold"/>
                <a:cs typeface="Inter ExtraBold"/>
                <a:sym typeface="Inter ExtraBold"/>
              </a:rPr>
              <a:t> K-</a:t>
            </a:r>
            <a:r>
              <a:rPr lang="es-CO" sz="4000" dirty="0" err="1">
                <a:solidFill>
                  <a:srgbClr val="1A1A1A"/>
                </a:solidFill>
                <a:latin typeface="Inter ExtraBold"/>
                <a:ea typeface="Inter ExtraBold"/>
                <a:cs typeface="Inter ExtraBold"/>
                <a:sym typeface="Inter ExtraBold"/>
              </a:rPr>
              <a:t>Fold</a:t>
            </a:r>
            <a:endParaRPr sz="4000" dirty="0">
              <a:solidFill>
                <a:srgbClr val="1A1A1A"/>
              </a:solidFill>
              <a:latin typeface="Inter ExtraBold"/>
              <a:ea typeface="Inter ExtraBold"/>
              <a:cs typeface="Inter ExtraBold"/>
              <a:sym typeface="Inter ExtraBold"/>
            </a:endParaRPr>
          </a:p>
        </p:txBody>
      </p:sp>
      <p:pic>
        <p:nvPicPr>
          <p:cNvPr id="3074" name="Picture 2" descr="python - difference between StratifiedKFold and StratifiedShuffleSplit in  sklearn - Stack Overflow">
            <a:extLst>
              <a:ext uri="{FF2B5EF4-FFF2-40B4-BE49-F238E27FC236}">
                <a16:creationId xmlns:a16="http://schemas.microsoft.com/office/drawing/2014/main" id="{1EEE9EF2-E64F-8D20-CC08-296228E68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04" y="1479429"/>
            <a:ext cx="8923391" cy="3239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872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57ABE6FD-343D-89EE-3E1F-F9567501382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124D8B2A-7B6B-BB06-6E7C-C663CDEEE950}"/>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E55C0AF4-94C1-B271-5BAA-397646ED9F2E}"/>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err="1">
                <a:solidFill>
                  <a:srgbClr val="1A1A1A"/>
                </a:solidFill>
                <a:latin typeface="Inter ExtraBold"/>
                <a:ea typeface="Inter ExtraBold"/>
                <a:cs typeface="Inter ExtraBold"/>
                <a:sym typeface="Inter ExtraBold"/>
              </a:rPr>
              <a:t>Leave-one-out</a:t>
            </a:r>
            <a:endParaRPr sz="4000" dirty="0">
              <a:solidFill>
                <a:srgbClr val="1A1A1A"/>
              </a:solidFill>
              <a:latin typeface="Inter ExtraBold"/>
              <a:ea typeface="Inter ExtraBold"/>
              <a:cs typeface="Inter ExtraBold"/>
              <a:sym typeface="Inter ExtraBold"/>
            </a:endParaRPr>
          </a:p>
        </p:txBody>
      </p:sp>
      <p:pic>
        <p:nvPicPr>
          <p:cNvPr id="4098" name="Picture 2" descr="Leave-One-Out Cross-Validation. Extreme version of k-fold… | by Naina  Chaturvedi | DataDrivenInvestor">
            <a:extLst>
              <a:ext uri="{FF2B5EF4-FFF2-40B4-BE49-F238E27FC236}">
                <a16:creationId xmlns:a16="http://schemas.microsoft.com/office/drawing/2014/main" id="{38ECE3C1-8FFE-94FC-D82E-6D54BEF9D4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841" y="825069"/>
            <a:ext cx="6986318" cy="4191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75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Armemos nuestro portafolio</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Exploremos fuentes de información sobre DS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Validación cruzada como base para el sobre ajuste o sub ajuste</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1110</TotalTime>
  <Words>1624</Words>
  <Application>Microsoft Office PowerPoint</Application>
  <PresentationFormat>Presentación en pantalla (16:9)</PresentationFormat>
  <Paragraphs>176</Paragraphs>
  <Slides>56</Slides>
  <Notes>56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56</vt:i4>
      </vt:variant>
    </vt:vector>
  </HeadingPairs>
  <TitlesOfParts>
    <vt:vector size="63" baseType="lpstr">
      <vt:lpstr>Inter SemiBold</vt:lpstr>
      <vt:lpstr>Inter ExtraBold</vt:lpstr>
      <vt:lpstr>Inter Medium</vt:lpstr>
      <vt:lpstr>Inter</vt:lpstr>
      <vt:lpstr>Roboto Mono</vt:lpstr>
      <vt:lpstr>Arial</vt:lpstr>
      <vt:lpstr>Simple Light</vt:lpstr>
      <vt:lpstr>Webinar 24 - Sprint 11 Validación cruzada</vt:lpstr>
      <vt:lpstr>Agenda</vt:lpstr>
      <vt:lpstr>Acuerdos</vt:lpstr>
      <vt:lpstr>Objetivo</vt:lpstr>
      <vt:lpstr>Midamos los ánimos</vt:lpstr>
      <vt:lpstr>Recap</vt:lpstr>
      <vt:lpstr>Encontrando patrones</vt:lpstr>
      <vt:lpstr>Ajuste</vt:lpstr>
      <vt:lpstr>Como garanticemos que nuestros train/test estén “nivelados”?</vt:lpstr>
      <vt:lpstr>Objetivo: - Entrenar con una visión “global” - Validar con una visión “global”</vt:lpstr>
      <vt:lpstr>Recordemos el gridsearch</vt:lpstr>
      <vt:lpstr>Hagamos lo mismo con train/test</vt:lpstr>
      <vt:lpstr>Validación cruzada</vt:lpstr>
      <vt:lpstr>K-Fold</vt:lpstr>
      <vt:lpstr>Stratified K-Fold</vt:lpstr>
      <vt:lpstr>Leave-one-out</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25</cp:revision>
  <dcterms:modified xsi:type="dcterms:W3CDTF">2025-06-11T03:04:17Z</dcterms:modified>
</cp:coreProperties>
</file>