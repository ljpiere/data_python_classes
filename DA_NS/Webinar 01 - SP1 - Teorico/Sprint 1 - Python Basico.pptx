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6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9144000" cy="5143500" type="screen16x9"/>
  <p:notesSz cx="6858000" cy="9144000"/>
  <p:embeddedFontLst>
    <p:embeddedFont>
      <p:font typeface="Inter" panose="020B0604020202020204" charset="0"/>
      <p:regular r:id="rId14"/>
      <p:bold r:id="rId15"/>
      <p:italic r:id="rId16"/>
      <p:boldItalic r:id="rId17"/>
    </p:embeddedFont>
    <p:embeddedFont>
      <p:font typeface="Inter ExtraBold" panose="020B0604020202020204" charset="0"/>
      <p:bold r:id="rId18"/>
      <p:boldItalic r:id="rId19"/>
    </p:embeddedFont>
    <p:embeddedFont>
      <p:font typeface="Inter Medium" panose="020B0604020202020204" charset="0"/>
      <p:regular r:id="rId20"/>
      <p:bold r:id="rId21"/>
      <p:italic r:id="rId22"/>
      <p:boldItalic r:id="rId23"/>
    </p:embeddedFont>
    <p:embeddedFont>
      <p:font typeface="Roboto Mono" panose="00000009000000000000" pitchFamily="49" charset="0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096">
          <p15:clr>
            <a:srgbClr val="747775"/>
          </p15:clr>
        </p15:guide>
        <p15:guide id="2" orient="horz" pos="1800">
          <p15:clr>
            <a:srgbClr val="747775"/>
          </p15:clr>
        </p15:guide>
        <p15:guide id="3" orient="horz" pos="2044">
          <p15:clr>
            <a:srgbClr val="747775"/>
          </p15:clr>
        </p15:guide>
        <p15:guide id="4" pos="5616">
          <p15:clr>
            <a:srgbClr val="747775"/>
          </p15:clr>
        </p15:guide>
        <p15:guide id="5" pos="144">
          <p15:clr>
            <a:srgbClr val="747775"/>
          </p15:clr>
        </p15:guide>
        <p15:guide id="6" pos="2022">
          <p15:clr>
            <a:srgbClr val="747775"/>
          </p15:clr>
        </p15:guide>
        <p15:guide id="7" pos="3901">
          <p15:clr>
            <a:srgbClr val="747775"/>
          </p15:clr>
        </p15:guide>
        <p15:guide id="8" orient="horz" pos="939">
          <p15:clr>
            <a:srgbClr val="747775"/>
          </p15:clr>
        </p15:guide>
        <p15:guide id="9" pos="240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0" roundtripDataSignature="AMtx7mj8tNZSu5dMjQ1Z8NnJe6pNwKBds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988" y="52"/>
      </p:cViewPr>
      <p:guideLst>
        <p:guide orient="horz" pos="3096"/>
        <p:guide orient="horz" pos="1800"/>
        <p:guide orient="horz" pos="2044"/>
        <p:guide pos="5616"/>
        <p:guide pos="144"/>
        <p:guide pos="2022"/>
        <p:guide pos="3901"/>
        <p:guide orient="horz" pos="939"/>
        <p:guide pos="2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font" Target="fonts/font13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font" Target="fonts/font14.fntdata"/><Relationship Id="rId30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" name="Google Shape;3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2daed9049e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2daed9049e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" name="Google Shape;3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2e433a42c2d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" name="Google Shape;50;g2e433a42c2d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3" name="Google Shape;7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2994d56a0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" name="Google Shape;82;g32994d56a0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2994d56a0f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2" name="Google Shape;92;g32994d56a0f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" name="Google Shape;10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8" name="Google Shape;118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" name="Google Shape;126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am (4 people)" type="secHead">
  <p:cSld name="SECTION_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8F60"/>
        </a:solidFill>
        <a:effectLst/>
      </p:bgPr>
    </p:bg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"/>
          <p:cNvSpPr txBox="1">
            <a:spLocks noGrp="1"/>
          </p:cNvSpPr>
          <p:nvPr>
            <p:ph type="ctrTitle"/>
          </p:nvPr>
        </p:nvSpPr>
        <p:spPr>
          <a:xfrm>
            <a:off x="64001" y="638300"/>
            <a:ext cx="7595100" cy="437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0" b="0" i="0" u="none" strike="noStrike" cap="none">
                <a:solidFill>
                  <a:srgbClr val="1A1A1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Python </a:t>
            </a:r>
            <a:r>
              <a:rPr lang="en" sz="6000">
                <a:solidFill>
                  <a:srgbClr val="1A1A1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Básico</a:t>
            </a:r>
            <a:endParaRPr sz="6000">
              <a:solidFill>
                <a:srgbClr val="1A1A1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6000">
              <a:solidFill>
                <a:srgbClr val="1A1A1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6000">
              <a:solidFill>
                <a:srgbClr val="1A1A1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6000">
              <a:solidFill>
                <a:srgbClr val="1A1A1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b="0" i="0" u="none" strike="noStrike" cap="non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Bienvenidos a este emocionante curso de Python, donde aprenderán las habilidades fundamentales para convertirse en programadores exitosos</a:t>
            </a:r>
            <a:endParaRPr sz="5800" b="0" i="0" u="none" strike="noStrike" cap="none">
              <a:solidFill>
                <a:srgbClr val="1A1A1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pic>
        <p:nvPicPr>
          <p:cNvPr id="34" name="Google Shape;34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8600" y="228600"/>
            <a:ext cx="866775" cy="19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228600"/>
            <a:ext cx="866775" cy="1942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8"/>
          <p:cNvSpPr txBox="1">
            <a:spLocks noGrp="1"/>
          </p:cNvSpPr>
          <p:nvPr>
            <p:ph type="ctrTitle"/>
          </p:nvPr>
        </p:nvSpPr>
        <p:spPr>
          <a:xfrm>
            <a:off x="96875" y="424975"/>
            <a:ext cx="85206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1A1A1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Speaker</a:t>
            </a:r>
            <a:endParaRPr sz="4000">
              <a:solidFill>
                <a:srgbClr val="1A1A1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71" name="Google Shape;71;p18"/>
          <p:cNvSpPr txBox="1">
            <a:spLocks noGrp="1"/>
          </p:cNvSpPr>
          <p:nvPr>
            <p:ph type="ctrTitle" idx="2"/>
          </p:nvPr>
        </p:nvSpPr>
        <p:spPr>
          <a:xfrm>
            <a:off x="188775" y="4206900"/>
            <a:ext cx="42651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dirty="0">
                <a:solidFill>
                  <a:srgbClr val="1A1A1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Leyton Jean Piere</a:t>
            </a:r>
            <a:br>
              <a:rPr lang="en" sz="3200" dirty="0">
                <a:solidFill>
                  <a:srgbClr val="1A1A1A"/>
                </a:solidFill>
                <a:latin typeface="Inter ExtraBold"/>
                <a:ea typeface="Inter ExtraBold"/>
                <a:cs typeface="Inter ExtraBold"/>
                <a:sym typeface="Inter ExtraBold"/>
              </a:rPr>
            </a:br>
            <a:r>
              <a:rPr lang="en" sz="1400" dirty="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Tutor</a:t>
            </a:r>
            <a:endParaRPr sz="1800" dirty="0">
              <a:solidFill>
                <a:srgbClr val="1A1A1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pic>
        <p:nvPicPr>
          <p:cNvPr id="72" name="Google Shape;72;p18"/>
          <p:cNvPicPr preferRelativeResize="0"/>
          <p:nvPr/>
        </p:nvPicPr>
        <p:blipFill>
          <a:blip r:embed="rId4"/>
          <a:srcRect l="4836" t="5470" r="2404" b="32805"/>
          <a:stretch/>
        </p:blipFill>
        <p:spPr>
          <a:xfrm>
            <a:off x="5409525" y="1139398"/>
            <a:ext cx="3545700" cy="3545700"/>
          </a:xfrm>
          <a:prstGeom prst="roundRect">
            <a:avLst>
              <a:gd name="adj" fmla="val 4772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1EE"/>
        </a:solidFill>
        <a:effectLst/>
      </p:bgPr>
    </p:bg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39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8600" y="228600"/>
            <a:ext cx="866775" cy="194225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2"/>
          <p:cNvSpPr txBox="1">
            <a:spLocks noGrp="1"/>
          </p:cNvSpPr>
          <p:nvPr>
            <p:ph type="ctrTitle"/>
          </p:nvPr>
        </p:nvSpPr>
        <p:spPr>
          <a:xfrm>
            <a:off x="96875" y="424975"/>
            <a:ext cx="85206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" sz="4000" b="0" i="0" u="none" strike="noStrike" cap="none">
                <a:solidFill>
                  <a:srgbClr val="1A1A1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Agenda para hoy</a:t>
            </a:r>
            <a:endParaRPr sz="4000" b="0" i="0" u="none" strike="noStrike" cap="none">
              <a:solidFill>
                <a:srgbClr val="1A1A1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505950" y="1498800"/>
            <a:ext cx="2779800" cy="934500"/>
          </a:xfrm>
          <a:prstGeom prst="roundRect">
            <a:avLst>
              <a:gd name="adj" fmla="val 25478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1. Revisión de teoría</a:t>
            </a:r>
            <a:endParaRPr sz="16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marR="0" lvl="0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Char char="●"/>
            </a:pPr>
            <a:r>
              <a:rPr lang="en" sz="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Variables y tipos de datos</a:t>
            </a:r>
            <a:endParaRPr sz="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marR="0" lvl="0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Char char="●"/>
            </a:pPr>
            <a:r>
              <a:rPr lang="en" sz="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Oper. aritméticas y errores</a:t>
            </a:r>
            <a:endParaRPr sz="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marR="0" lvl="0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Char char="●"/>
            </a:pPr>
            <a:r>
              <a:rPr lang="en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Funciones de python</a:t>
            </a:r>
            <a:endParaRPr sz="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marR="0" lvl="0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Char char="●"/>
            </a:pPr>
            <a:r>
              <a:rPr lang="en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Strings</a:t>
            </a:r>
            <a:br>
              <a:rPr lang="en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Listas</a:t>
            </a:r>
            <a:endParaRPr sz="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535100" y="2919833"/>
            <a:ext cx="2779800" cy="721500"/>
          </a:xfrm>
          <a:prstGeom prst="roundRect">
            <a:avLst>
              <a:gd name="adj" fmla="val 25478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2. Codificando juntos + Quiz!</a:t>
            </a:r>
            <a:endParaRPr sz="16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505950" y="4193650"/>
            <a:ext cx="2779800" cy="721500"/>
          </a:xfrm>
          <a:prstGeom prst="roundRect">
            <a:avLst>
              <a:gd name="adj" fmla="val 25478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>
                <a:latin typeface="Inter"/>
                <a:ea typeface="Inter"/>
                <a:cs typeface="Inter"/>
                <a:sym typeface="Inter"/>
              </a:rPr>
              <a:t>3</a:t>
            </a:r>
            <a:r>
              <a:rPr lang="en" sz="16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. Preguntas</a:t>
            </a:r>
            <a:endParaRPr sz="16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44" name="Google Shape;44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72695" y="2220300"/>
            <a:ext cx="2562005" cy="2659324"/>
          </a:xfrm>
          <a:prstGeom prst="rect">
            <a:avLst/>
          </a:prstGeom>
          <a:noFill/>
          <a:ln>
            <a:noFill/>
          </a:ln>
        </p:spPr>
      </p:pic>
      <p:pic>
        <p:nvPicPr>
          <p:cNvPr id="45" name="Google Shape;45;p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flipH="1">
            <a:off x="3391100" y="1886850"/>
            <a:ext cx="220650" cy="1281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" name="Google Shape;46;p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57750" y="1886850"/>
            <a:ext cx="220650" cy="1281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" name="Google Shape;47;p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flipH="1">
            <a:off x="3361950" y="3307575"/>
            <a:ext cx="220650" cy="1196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1EE"/>
        </a:solidFill>
        <a:effectLst/>
      </p:bgPr>
    </p:bg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g2e433a42c2d_0_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8600" y="228600"/>
            <a:ext cx="866775" cy="194225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g2e433a42c2d_0_1"/>
          <p:cNvSpPr txBox="1">
            <a:spLocks noGrp="1"/>
          </p:cNvSpPr>
          <p:nvPr>
            <p:ph type="ctrTitle"/>
          </p:nvPr>
        </p:nvSpPr>
        <p:spPr>
          <a:xfrm>
            <a:off x="96875" y="424975"/>
            <a:ext cx="85206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" sz="4000">
                <a:solidFill>
                  <a:srgbClr val="1A1A1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Objetivos</a:t>
            </a:r>
            <a:endParaRPr sz="4000" b="0" i="0" u="none" strike="noStrike" cap="none">
              <a:solidFill>
                <a:srgbClr val="1A1A1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4" name="Google Shape;54;g2e433a42c2d_0_1"/>
          <p:cNvSpPr/>
          <p:nvPr/>
        </p:nvSpPr>
        <p:spPr>
          <a:xfrm>
            <a:off x="505950" y="1498800"/>
            <a:ext cx="4663500" cy="1147800"/>
          </a:xfrm>
          <a:prstGeom prst="roundRect">
            <a:avLst>
              <a:gd name="adj" fmla="val 25478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Escribir y ejecutar código básico en </a:t>
            </a:r>
            <a:r>
              <a:rPr lang="en" sz="1100" b="1">
                <a:solidFill>
                  <a:schemeClr val="dk1"/>
                </a:solidFill>
              </a:rPr>
              <a:t>Jupyter Notebook (Colab)</a:t>
            </a:r>
            <a:r>
              <a:rPr lang="en" sz="1100">
                <a:solidFill>
                  <a:schemeClr val="dk1"/>
                </a:solidFill>
              </a:rPr>
              <a:t>, aplicando </a:t>
            </a:r>
            <a:r>
              <a:rPr lang="en" sz="1100" b="1">
                <a:solidFill>
                  <a:schemeClr val="dk1"/>
                </a:solidFill>
              </a:rPr>
              <a:t>variables, tipos de datos, manejo de errores, cadenas y listas</a:t>
            </a:r>
            <a:r>
              <a:rPr lang="en" sz="1100">
                <a:solidFill>
                  <a:schemeClr val="dk1"/>
                </a:solidFill>
              </a:rPr>
              <a:t>, a través de ejercicios prácticos y preguntas teóricas. </a:t>
            </a:r>
            <a:endParaRPr sz="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5" name="Google Shape;55;g2e433a42c2d_0_1"/>
          <p:cNvSpPr/>
          <p:nvPr/>
        </p:nvSpPr>
        <p:spPr>
          <a:xfrm>
            <a:off x="535100" y="2919825"/>
            <a:ext cx="4663500" cy="1281300"/>
          </a:xfrm>
          <a:prstGeom prst="roundRect">
            <a:avLst>
              <a:gd name="adj" fmla="val 25478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Participar en una </a:t>
            </a:r>
            <a:r>
              <a:rPr lang="en" sz="1100" b="1">
                <a:solidFill>
                  <a:schemeClr val="dk1"/>
                </a:solidFill>
              </a:rPr>
              <a:t>sesión de codificación colaborativa</a:t>
            </a:r>
            <a:r>
              <a:rPr lang="en" sz="1100">
                <a:solidFill>
                  <a:schemeClr val="dk1"/>
                </a:solidFill>
              </a:rPr>
              <a:t> para resolver ejercicios en Python de manera estructurada y guiada, completando </a:t>
            </a:r>
            <a:r>
              <a:rPr lang="en" sz="1100" b="1">
                <a:solidFill>
                  <a:schemeClr val="dk1"/>
                </a:solidFill>
              </a:rPr>
              <a:t>dos ejercicios en Colab</a:t>
            </a:r>
            <a:r>
              <a:rPr lang="en" sz="1100">
                <a:solidFill>
                  <a:schemeClr val="dk1"/>
                </a:solidFill>
              </a:rPr>
              <a:t>, aplicando los conceptos aprendidos de forma práctica y activa. 🚀</a:t>
            </a:r>
            <a:endParaRPr sz="16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56" name="Google Shape;56;g2e433a42c2d_0_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72695" y="2220300"/>
            <a:ext cx="2562005" cy="2659324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g2e433a42c2d_0_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flipH="1">
            <a:off x="5260750" y="2026175"/>
            <a:ext cx="220650" cy="1281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g2e433a42c2d_0_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57750" y="1886850"/>
            <a:ext cx="220650" cy="1281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2F1EE"/>
        </a:solid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8600" y="228600"/>
            <a:ext cx="866775" cy="194225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5"/>
          <p:cNvSpPr txBox="1">
            <a:spLocks noGrp="1"/>
          </p:cNvSpPr>
          <p:nvPr>
            <p:ph type="ctrTitle"/>
          </p:nvPr>
        </p:nvSpPr>
        <p:spPr>
          <a:xfrm>
            <a:off x="96875" y="424975"/>
            <a:ext cx="85206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" sz="4000" b="0" i="0" u="none" strike="noStrike" cap="none">
                <a:solidFill>
                  <a:srgbClr val="1A1A1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Variables y tipos de datos</a:t>
            </a:r>
            <a:endParaRPr sz="4000" b="0" i="0" u="none" strike="noStrike" cap="none">
              <a:solidFill>
                <a:srgbClr val="1A1A1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228600" y="1490700"/>
            <a:ext cx="2779800" cy="3424200"/>
          </a:xfrm>
          <a:prstGeom prst="roundRect">
            <a:avLst>
              <a:gd name="adj" fmla="val 563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0" anchor="b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b="1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Variables</a:t>
            </a:r>
            <a:endParaRPr sz="1600" b="1" i="0" u="none" strike="noStrike" cap="non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Las variables son contenedores que permiten almacenar y manipular diferentes tipos de datos en Python. Siguen convenciones de nombramiento claras para facilitar su uso.</a:t>
            </a:r>
            <a:endParaRPr sz="1600" b="1" i="0" u="none" strike="noStrike" cap="none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3182100" y="1490700"/>
            <a:ext cx="2779800" cy="3424200"/>
          </a:xfrm>
          <a:prstGeom prst="roundRect">
            <a:avLst>
              <a:gd name="adj" fmla="val 563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0" anchor="b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b="1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Tipos de datos</a:t>
            </a:r>
            <a:endParaRPr sz="1600" b="1" i="0" u="none" strike="noStrike" cap="non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Python admite varios tipos de datos, como enteros, flotantes, cadenas de texto y booleanos. Cada uno tiene sus propias características y usos específicos. Función: type(variable)</a:t>
            </a:r>
            <a:endParaRPr sz="1600" b="1" i="0" u="none" strike="noStrike" cap="none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6135600" y="1490700"/>
            <a:ext cx="2779800" cy="3424200"/>
          </a:xfrm>
          <a:prstGeom prst="roundRect">
            <a:avLst>
              <a:gd name="adj" fmla="val 563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0" anchor="b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b="1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Conversión de tipos</a:t>
            </a:r>
            <a:endParaRPr sz="1600" b="1" i="0" u="none" strike="noStrike" cap="non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Cuando es necesario, podemos convertir entre diferentes tipos de datos utilizando funciones integradas como int(), float() y str(). Esto nos permite operar con los datos de manera flexible.</a:t>
            </a:r>
            <a:endParaRPr sz="1600" b="1" i="0" u="none" strike="noStrike" cap="none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68" name="Google Shape;68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004" y="1643103"/>
            <a:ext cx="406490" cy="572163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334498" y="1643105"/>
            <a:ext cx="406490" cy="572163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88009" y="1643104"/>
            <a:ext cx="406490" cy="5721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2F1EE"/>
        </a:solidFill>
        <a:effectLst/>
      </p:bgPr>
    </p:bg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8600" y="228600"/>
            <a:ext cx="866775" cy="194225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6"/>
          <p:cNvSpPr txBox="1">
            <a:spLocks noGrp="1"/>
          </p:cNvSpPr>
          <p:nvPr>
            <p:ph type="ctrTitle"/>
          </p:nvPr>
        </p:nvSpPr>
        <p:spPr>
          <a:xfrm>
            <a:off x="96875" y="424975"/>
            <a:ext cx="8520600" cy="14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" sz="4000" b="0" i="0" u="none" strike="noStrike" cap="none">
                <a:solidFill>
                  <a:srgbClr val="1A1A1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Operaciones aritméticas y mensajes de error</a:t>
            </a:r>
            <a:endParaRPr sz="4000" b="0" i="0" u="none" strike="noStrike" cap="none">
              <a:solidFill>
                <a:srgbClr val="1A1A1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77" name="Google Shape;77;p6"/>
          <p:cNvSpPr/>
          <p:nvPr/>
        </p:nvSpPr>
        <p:spPr>
          <a:xfrm>
            <a:off x="228600" y="1993375"/>
            <a:ext cx="2722200" cy="2921700"/>
          </a:xfrm>
          <a:prstGeom prst="snip2DiagRect">
            <a:avLst>
              <a:gd name="adj1" fmla="val 0"/>
              <a:gd name="adj2" fmla="val 921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2743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b="1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Operaciones aritméticas</a:t>
            </a:r>
            <a:endParaRPr sz="1600" b="1" i="0" u="none" strike="noStrike" cap="non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0" i="0" u="none" strike="noStrike" cap="non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Python permite realizar operaciones matemáticas básicas como suma (+), resta (-), multiplicación (*) y división (/). También admite operadores avanzados como potenciación (**) y módulo (%).</a:t>
            </a:r>
            <a:endParaRPr sz="1200" b="0" i="0" u="none" strike="noStrike" cap="none">
              <a:solidFill>
                <a:srgbClr val="1A1A1A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78" name="Google Shape;78;p6"/>
          <p:cNvSpPr/>
          <p:nvPr/>
        </p:nvSpPr>
        <p:spPr>
          <a:xfrm>
            <a:off x="3209550" y="1993375"/>
            <a:ext cx="2724900" cy="292170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182875" tIns="91425" rIns="182875" bIns="2743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b="1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Mensajes</a:t>
            </a:r>
            <a:br>
              <a:rPr lang="en" sz="1600" b="1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" sz="1600" b="1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de error</a:t>
            </a:r>
            <a:endParaRPr sz="1600" b="1" i="0" u="none" strike="noStrike" cap="non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0" i="0" u="none" strike="noStrike" cap="non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Es importante familiarizarse con los mensajes de error comunes en Python. Esto nos ayudará a identificar y resolver problemas de manera eficiente durante el desarrollo.</a:t>
            </a:r>
            <a:endParaRPr sz="2400" b="0" i="0" u="none" strike="noStrike" cap="none">
              <a:solidFill>
                <a:srgbClr val="1A1A1A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79" name="Google Shape;79;p6"/>
          <p:cNvSpPr/>
          <p:nvPr/>
        </p:nvSpPr>
        <p:spPr>
          <a:xfrm>
            <a:off x="6193200" y="1993375"/>
            <a:ext cx="2724900" cy="2904000"/>
          </a:xfrm>
          <a:prstGeom prst="snip1Rect">
            <a:avLst>
              <a:gd name="adj" fmla="val 9643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274300" tIns="91425" rIns="274300" bIns="2743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b="1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Aprendizaje continuo</a:t>
            </a:r>
            <a:endParaRPr sz="1600" b="1" i="0" u="none" strike="noStrike" cap="non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0" i="0" u="none" strike="noStrike" cap="non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A medida que avancen en su viaje de aprendizaje de Python, seguirán encontrando nuevos conceptos y desafíos. Mantengan una actitud de aprendizaje constante para dominar este lenguaje de programación.</a:t>
            </a:r>
            <a:endParaRPr sz="2400" b="0" i="0" u="none" strike="noStrike" cap="none">
              <a:solidFill>
                <a:srgbClr val="1A1A1A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2F1EE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g32994d56a0f_0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8601" y="228601"/>
            <a:ext cx="866775" cy="194225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g32994d56a0f_0_0"/>
          <p:cNvSpPr txBox="1">
            <a:spLocks noGrp="1"/>
          </p:cNvSpPr>
          <p:nvPr>
            <p:ph type="ctrTitle"/>
          </p:nvPr>
        </p:nvSpPr>
        <p:spPr>
          <a:xfrm>
            <a:off x="96875" y="424975"/>
            <a:ext cx="85206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b="0" i="0" u="none" strike="noStrike" cap="none">
                <a:solidFill>
                  <a:srgbClr val="1A1A1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Introducción a strings</a:t>
            </a:r>
            <a:endParaRPr sz="4000" b="0" i="0" u="none" strike="noStrike" cap="none">
              <a:solidFill>
                <a:srgbClr val="1A1A1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86" name="Google Shape;86;g32994d56a0f_0_0"/>
          <p:cNvSpPr/>
          <p:nvPr/>
        </p:nvSpPr>
        <p:spPr>
          <a:xfrm>
            <a:off x="228600" y="1490700"/>
            <a:ext cx="4302300" cy="1491600"/>
          </a:xfrm>
          <a:prstGeom prst="roundRect">
            <a:avLst>
              <a:gd name="adj" fmla="val 11214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182875" tIns="182875" rIns="91425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i="0" u="none" strike="noStrike" cap="non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Definición de strings</a:t>
            </a:r>
            <a:endParaRPr sz="1600" b="1" i="0" u="none" strike="noStrike" cap="none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200" b="0" i="0" u="none" strike="noStrike" cap="non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Los strings son secuencias de caracteres, como letras, números y símbolos, que se utilizan para representar y manipular texto en Python.</a:t>
            </a:r>
            <a:endParaRPr sz="1200" b="0" i="0" u="none" strike="noStrike" cap="none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7" name="Google Shape;87;g32994d56a0f_0_0"/>
          <p:cNvSpPr/>
          <p:nvPr/>
        </p:nvSpPr>
        <p:spPr>
          <a:xfrm>
            <a:off x="4638450" y="1490700"/>
            <a:ext cx="4277100" cy="1491600"/>
          </a:xfrm>
          <a:prstGeom prst="roundRect">
            <a:avLst>
              <a:gd name="adj" fmla="val 12052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182875" tIns="182875" rIns="91425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i="0" u="none" strike="noStrike" cap="non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Índices y slices</a:t>
            </a:r>
            <a:endParaRPr sz="1600" b="1" i="0" u="none" strike="noStrike" cap="none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200" b="0" i="0" u="none" strike="noStrike" cap="non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Podemos acceder a caracteres específicos dentro de un string utilizando índices, y crear subcadenas a través de slices. Ej.: str[0], str[1:3]</a:t>
            </a:r>
            <a:endParaRPr sz="1200" b="0" i="0" u="none" strike="noStrike" cap="none">
              <a:solidFill>
                <a:srgbClr val="1A1A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g32994d56a0f_0_0"/>
          <p:cNvSpPr/>
          <p:nvPr/>
        </p:nvSpPr>
        <p:spPr>
          <a:xfrm>
            <a:off x="228600" y="3150575"/>
            <a:ext cx="4302300" cy="1764300"/>
          </a:xfrm>
          <a:prstGeom prst="roundRect">
            <a:avLst>
              <a:gd name="adj" fmla="val 10576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182875" tIns="182875" rIns="91425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i="0" u="none" strike="noStrike" cap="non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Strings formateados</a:t>
            </a:r>
            <a:endParaRPr sz="1600" b="1" i="0" u="none" strike="noStrike" cap="none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200" b="0" i="0" u="none" strike="noStrike" cap="non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Python ofrece formas eficientes de formatear strings, como f-strings y el método format(), para incorporar valores dinámicos de manera clara y legible.</a:t>
            </a:r>
            <a:endParaRPr sz="1200" b="0" i="0" u="none" strike="noStrike" cap="none">
              <a:solidFill>
                <a:srgbClr val="1A1A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g32994d56a0f_0_0"/>
          <p:cNvSpPr/>
          <p:nvPr/>
        </p:nvSpPr>
        <p:spPr>
          <a:xfrm>
            <a:off x="4638400" y="3150575"/>
            <a:ext cx="4277100" cy="1764300"/>
          </a:xfrm>
          <a:prstGeom prst="roundRect">
            <a:avLst>
              <a:gd name="adj" fmla="val 909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182875" tIns="182875" rIns="91425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i="0" u="none" strike="noStrike" cap="non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Métodos de strings</a:t>
            </a:r>
            <a:endParaRPr sz="1600" b="1" i="0" u="none" strike="noStrike" cap="none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200" b="0" i="0" u="none" strike="noStrike" cap="non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Los strings cuentan con una variedad de métodos útiles, como upper(), lower(), split() y join(), que facilitan la manipulación y transformación de texto.</a:t>
            </a:r>
            <a:endParaRPr sz="1200" b="0" i="0" u="none" strike="noStrike" cap="none">
              <a:solidFill>
                <a:srgbClr val="1A1A1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2F1EE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g32994d56a0f_0_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8601" y="228601"/>
            <a:ext cx="866775" cy="194225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g32994d56a0f_0_33"/>
          <p:cNvSpPr txBox="1">
            <a:spLocks noGrp="1"/>
          </p:cNvSpPr>
          <p:nvPr>
            <p:ph type="ctrTitle"/>
          </p:nvPr>
        </p:nvSpPr>
        <p:spPr>
          <a:xfrm>
            <a:off x="96875" y="424975"/>
            <a:ext cx="85206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b="0" i="0" u="none" strike="noStrike" cap="none">
                <a:solidFill>
                  <a:srgbClr val="1A1A1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Introducción a </a:t>
            </a:r>
            <a:r>
              <a:rPr lang="en" sz="4000">
                <a:solidFill>
                  <a:srgbClr val="1A1A1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Listas</a:t>
            </a:r>
            <a:endParaRPr sz="4000" b="0" i="0" u="none" strike="noStrike" cap="none">
              <a:solidFill>
                <a:srgbClr val="1A1A1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6" name="Google Shape;96;g32994d56a0f_0_33"/>
          <p:cNvSpPr/>
          <p:nvPr/>
        </p:nvSpPr>
        <p:spPr>
          <a:xfrm>
            <a:off x="228600" y="1490700"/>
            <a:ext cx="4302300" cy="1491600"/>
          </a:xfrm>
          <a:prstGeom prst="roundRect">
            <a:avLst>
              <a:gd name="adj" fmla="val 11214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182875" tIns="182875" rIns="91425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i="0" u="none" strike="noStrike" cap="non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Definición de </a:t>
            </a:r>
            <a:r>
              <a:rPr lang="en" sz="1600" b="1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listas</a:t>
            </a:r>
            <a:endParaRPr sz="1600" b="1" i="0" u="none" strike="noStrike" cap="none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Las listas en Python son colecciones ordenadas y mutables que pueden contener diferentes tipos de datos, como números y strings.</a:t>
            </a:r>
            <a:endParaRPr sz="1200" b="0" i="0" u="none" strike="noStrike" cap="none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7" name="Google Shape;97;g32994d56a0f_0_33"/>
          <p:cNvSpPr/>
          <p:nvPr/>
        </p:nvSpPr>
        <p:spPr>
          <a:xfrm>
            <a:off x="4638450" y="1490700"/>
            <a:ext cx="4277100" cy="1491600"/>
          </a:xfrm>
          <a:prstGeom prst="roundRect">
            <a:avLst>
              <a:gd name="adj" fmla="val 12052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182875" tIns="182875" rIns="91425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i="0" u="none" strike="noStrike" cap="non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Índices y slices</a:t>
            </a:r>
            <a:endParaRPr sz="1600" b="1" i="0" u="none" strike="noStrike" cap="none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Se accede a los elementos mediante índices, empezando desde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0</a:t>
            </a:r>
            <a:r>
              <a:rPr lang="en" sz="1100">
                <a:solidFill>
                  <a:schemeClr val="dk1"/>
                </a:solidFill>
              </a:rPr>
              <a:t> o con índices negativos.</a:t>
            </a:r>
            <a:endParaRPr sz="110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 b="1">
                <a:solidFill>
                  <a:schemeClr val="dk1"/>
                </a:solidFill>
              </a:rPr>
              <a:t>Ejemplo: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lista[0]</a:t>
            </a:r>
            <a:r>
              <a:rPr lang="en" sz="1100">
                <a:solidFill>
                  <a:schemeClr val="dk1"/>
                </a:solidFill>
              </a:rPr>
              <a:t>,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lista[-1]</a:t>
            </a:r>
            <a:r>
              <a:rPr lang="en" sz="1100">
                <a:solidFill>
                  <a:schemeClr val="dk1"/>
                </a:solidFill>
              </a:rPr>
              <a:t>,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lista[1:4]</a:t>
            </a:r>
            <a:endParaRPr sz="1200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8" name="Google Shape;98;g32994d56a0f_0_33"/>
          <p:cNvSpPr/>
          <p:nvPr/>
        </p:nvSpPr>
        <p:spPr>
          <a:xfrm>
            <a:off x="228600" y="3150575"/>
            <a:ext cx="4302300" cy="1764300"/>
          </a:xfrm>
          <a:prstGeom prst="roundRect">
            <a:avLst>
              <a:gd name="adj" fmla="val 10576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182875" tIns="182875" rIns="91425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Modificación de listas</a:t>
            </a:r>
            <a:endParaRPr sz="1600" b="1" i="0" u="none" strike="noStrike" cap="none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Las listas permiten modificar, agregar o eliminar elementos.</a:t>
            </a:r>
            <a:endParaRPr sz="1200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200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9" name="Google Shape;99;g32994d56a0f_0_33"/>
          <p:cNvSpPr/>
          <p:nvPr/>
        </p:nvSpPr>
        <p:spPr>
          <a:xfrm>
            <a:off x="4638400" y="3150575"/>
            <a:ext cx="4277100" cy="1764300"/>
          </a:xfrm>
          <a:prstGeom prst="roundRect">
            <a:avLst>
              <a:gd name="adj" fmla="val 909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182875" tIns="182875" rIns="91425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Operaciones y Métodos con listas</a:t>
            </a:r>
            <a:endParaRPr sz="1600" b="1" i="0" u="none" strike="noStrike" cap="none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chemeClr val="dk1"/>
                </a:solidFill>
              </a:rPr>
              <a:t>Concatenación:</a:t>
            </a:r>
            <a:r>
              <a:rPr lang="en" sz="800">
                <a:solidFill>
                  <a:schemeClr val="dk1"/>
                </a:solidFill>
              </a:rPr>
              <a:t> </a:t>
            </a:r>
            <a:r>
              <a:rPr lang="en" sz="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lista1 + lista2</a:t>
            </a:r>
            <a:br>
              <a:rPr lang="en" sz="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" sz="800" b="1">
                <a:solidFill>
                  <a:schemeClr val="dk1"/>
                </a:solidFill>
              </a:rPr>
              <a:t>Repetición:</a:t>
            </a:r>
            <a:r>
              <a:rPr lang="en" sz="800">
                <a:solidFill>
                  <a:schemeClr val="dk1"/>
                </a:solidFill>
              </a:rPr>
              <a:t> </a:t>
            </a:r>
            <a:r>
              <a:rPr lang="en" sz="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lista * 3</a:t>
            </a:r>
            <a:br>
              <a:rPr lang="en" sz="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" sz="800" b="1">
                <a:solidFill>
                  <a:schemeClr val="dk1"/>
                </a:solidFill>
              </a:rPr>
              <a:t>Longitud:</a:t>
            </a:r>
            <a:r>
              <a:rPr lang="en" sz="800">
                <a:solidFill>
                  <a:schemeClr val="dk1"/>
                </a:solidFill>
              </a:rPr>
              <a:t> </a:t>
            </a:r>
            <a:r>
              <a:rPr lang="en" sz="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len(lista)</a:t>
            </a:r>
            <a:br>
              <a:rPr lang="en" sz="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" sz="800" b="1">
                <a:solidFill>
                  <a:schemeClr val="dk1"/>
                </a:solidFill>
              </a:rPr>
              <a:t>Verificación:</a:t>
            </a:r>
            <a:r>
              <a:rPr lang="en" sz="800">
                <a:solidFill>
                  <a:schemeClr val="dk1"/>
                </a:solidFill>
              </a:rPr>
              <a:t> </a:t>
            </a:r>
            <a:r>
              <a:rPr lang="en" sz="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valor in lista</a:t>
            </a:r>
            <a:endParaRPr sz="8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200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00" name="Google Shape;100;g32994d56a0f_0_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33225" y="4184250"/>
            <a:ext cx="3081750" cy="67237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101" name="Google Shape;101;g32994d56a0f_0_33"/>
          <p:cNvSpPr txBox="1"/>
          <p:nvPr/>
        </p:nvSpPr>
        <p:spPr>
          <a:xfrm>
            <a:off x="6999300" y="3686400"/>
            <a:ext cx="1916100" cy="102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append()</a:t>
            </a:r>
            <a:r>
              <a:rPr lang="en" sz="800">
                <a:solidFill>
                  <a:schemeClr val="dk1"/>
                </a:solidFill>
              </a:rPr>
              <a:t>: Agrega un elemento.</a:t>
            </a:r>
            <a:endParaRPr sz="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insert()</a:t>
            </a:r>
            <a:r>
              <a:rPr lang="en" sz="800">
                <a:solidFill>
                  <a:schemeClr val="dk1"/>
                </a:solidFill>
              </a:rPr>
              <a:t>: Inserta un elemento.</a:t>
            </a:r>
            <a:endParaRPr sz="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remove()</a:t>
            </a:r>
            <a:r>
              <a:rPr lang="en" sz="800">
                <a:solidFill>
                  <a:schemeClr val="dk1"/>
                </a:solidFill>
              </a:rPr>
              <a:t>: Elimina un valor.</a:t>
            </a:r>
            <a:endParaRPr sz="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pop()</a:t>
            </a:r>
            <a:r>
              <a:rPr lang="en" sz="800">
                <a:solidFill>
                  <a:schemeClr val="dk1"/>
                </a:solidFill>
              </a:rPr>
              <a:t>: Extrae un elemento.</a:t>
            </a:r>
            <a:endParaRPr sz="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sort()</a:t>
            </a:r>
            <a:r>
              <a:rPr lang="en" sz="800">
                <a:solidFill>
                  <a:schemeClr val="dk1"/>
                </a:solidFill>
              </a:rPr>
              <a:t>: Ordena la lista.</a:t>
            </a:r>
            <a:endParaRPr sz="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8F60"/>
        </a:solid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8600" y="228600"/>
            <a:ext cx="866775" cy="194225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7"/>
          <p:cNvSpPr txBox="1">
            <a:spLocks noGrp="1"/>
          </p:cNvSpPr>
          <p:nvPr>
            <p:ph type="ctrTitle"/>
          </p:nvPr>
        </p:nvSpPr>
        <p:spPr>
          <a:xfrm>
            <a:off x="96875" y="424975"/>
            <a:ext cx="85206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4000" b="0" i="0" u="none" strike="noStrike" cap="none">
                <a:solidFill>
                  <a:srgbClr val="1A1A1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Codificando juntos</a:t>
            </a:r>
            <a:endParaRPr sz="4000" b="0" i="0" u="none" strike="noStrike" cap="none">
              <a:solidFill>
                <a:srgbClr val="1A1A1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08" name="Google Shape;108;p7"/>
          <p:cNvSpPr txBox="1"/>
          <p:nvPr/>
        </p:nvSpPr>
        <p:spPr>
          <a:xfrm>
            <a:off x="1095375" y="2438452"/>
            <a:ext cx="3050700" cy="8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b="1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Operaciones aritméticas</a:t>
            </a:r>
            <a:endParaRPr sz="1600" b="1" i="0" u="none" strike="noStrike" cap="none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0" i="0" u="none" strike="noStrike" cap="non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Realizar operaciones matemáticas.</a:t>
            </a:r>
            <a:endParaRPr sz="1200" b="0" i="0" u="none" strike="noStrike" cap="none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9" name="Google Shape;109;p7"/>
          <p:cNvSpPr txBox="1"/>
          <p:nvPr/>
        </p:nvSpPr>
        <p:spPr>
          <a:xfrm>
            <a:off x="1171575" y="3966245"/>
            <a:ext cx="2950800" cy="8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b="1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Mensajes de error</a:t>
            </a:r>
            <a:endParaRPr sz="1600" b="1" i="0" u="none" strike="noStrike" cap="none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Realizar tratamiento de errores.</a:t>
            </a:r>
            <a:endParaRPr sz="1200" b="0" i="0" u="none" strike="noStrike" cap="none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10" name="Google Shape;110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71567" y="1717054"/>
            <a:ext cx="645459" cy="645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241329" y="3244854"/>
            <a:ext cx="645459" cy="645201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7"/>
          <p:cNvSpPr txBox="1"/>
          <p:nvPr/>
        </p:nvSpPr>
        <p:spPr>
          <a:xfrm>
            <a:off x="4894600" y="2438452"/>
            <a:ext cx="3050700" cy="8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Strings</a:t>
            </a:r>
            <a:endParaRPr sz="1600" b="1" i="0" u="none" strike="noStrike" cap="none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Manipular y formatear texto en Python.</a:t>
            </a:r>
            <a:endParaRPr sz="1200" b="0" i="0" u="none" strike="noStrike" cap="none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3" name="Google Shape;113;p7"/>
          <p:cNvSpPr txBox="1"/>
          <p:nvPr/>
        </p:nvSpPr>
        <p:spPr>
          <a:xfrm>
            <a:off x="4970800" y="3966245"/>
            <a:ext cx="2950800" cy="101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Listas</a:t>
            </a:r>
            <a:endParaRPr sz="1600" b="1" i="0" u="none" strike="noStrike" cap="none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Almacenar, modificar y operar con colecciones de datos.</a:t>
            </a:r>
            <a:endParaRPr sz="1200" b="0" i="0" u="none" strike="noStrike" cap="none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14" name="Google Shape;114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970792" y="1717054"/>
            <a:ext cx="645459" cy="645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040554" y="3244854"/>
            <a:ext cx="645459" cy="645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8600" y="228600"/>
            <a:ext cx="868680" cy="191756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9"/>
          <p:cNvSpPr txBox="1"/>
          <p:nvPr/>
        </p:nvSpPr>
        <p:spPr>
          <a:xfrm>
            <a:off x="96875" y="424975"/>
            <a:ext cx="85206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" sz="4000" b="0" i="0" u="none" strike="noStrike" cap="none">
                <a:solidFill>
                  <a:srgbClr val="F2F1EE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¿Preguntas?</a:t>
            </a:r>
            <a:endParaRPr sz="4000" b="0" i="0" u="none" strike="noStrike" cap="none">
              <a:solidFill>
                <a:srgbClr val="F2F1EE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22" name="Google Shape;122;p9"/>
          <p:cNvSpPr txBox="1"/>
          <p:nvPr/>
        </p:nvSpPr>
        <p:spPr>
          <a:xfrm>
            <a:off x="139800" y="2298300"/>
            <a:ext cx="6053400" cy="26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b="0" i="0" u="none" strike="noStrike" cap="none">
                <a:solidFill>
                  <a:srgbClr val="F2F1EE"/>
                </a:solidFill>
                <a:latin typeface="Inter"/>
                <a:ea typeface="Inter"/>
                <a:cs typeface="Inter"/>
                <a:sym typeface="Inter"/>
              </a:rPr>
              <a:t>Estoy aquí para ayudarles. No duden en contactarme si tienen alguna duda o inquietud.</a:t>
            </a:r>
            <a:endParaRPr sz="2000" b="0" i="0" u="none" strike="noStrike" cap="none">
              <a:solidFill>
                <a:srgbClr val="F2F1EE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23" name="Google Shape;12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7280" y="1131575"/>
            <a:ext cx="6401751" cy="2510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8F60"/>
        </a:solidFill>
        <a:effectLst/>
      </p:bgPr>
    </p:bg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0"/>
          <p:cNvSpPr txBox="1">
            <a:spLocks noGrp="1"/>
          </p:cNvSpPr>
          <p:nvPr>
            <p:ph type="ctrTitle"/>
          </p:nvPr>
        </p:nvSpPr>
        <p:spPr>
          <a:xfrm>
            <a:off x="311688" y="1740600"/>
            <a:ext cx="8520600" cy="16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" sz="4800" b="0" i="0" u="none" strike="noStrike" cap="none">
                <a:solidFill>
                  <a:srgbClr val="1A1A1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¡Gracias      por acompañarnos!</a:t>
            </a:r>
            <a:endParaRPr sz="4800" b="0" i="0" u="none" strike="noStrike" cap="none">
              <a:solidFill>
                <a:srgbClr val="1A1A1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pic>
        <p:nvPicPr>
          <p:cNvPr id="129" name="Google Shape;129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05383" y="1957825"/>
            <a:ext cx="645459" cy="645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38613" y="228600"/>
            <a:ext cx="866775" cy="194225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0"/>
          <p:cNvSpPr txBox="1"/>
          <p:nvPr/>
        </p:nvSpPr>
        <p:spPr>
          <a:xfrm>
            <a:off x="1772400" y="4267150"/>
            <a:ext cx="5599200" cy="6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Les deseo lo mejor en su viaje de aprendizaje de Python. </a:t>
            </a:r>
            <a:br>
              <a:rPr lang="en" sz="1400" b="0" i="0" u="none" strike="noStrike" cap="non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" sz="1400" b="0" i="0" u="none" strike="noStrike" cap="non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¡Que esta sea la puerta de entrada a un mundo de posibilidades!</a:t>
            </a:r>
            <a:endParaRPr sz="1400" b="0" i="0" u="none" strike="noStrike" cap="none">
              <a:solidFill>
                <a:srgbClr val="1A1A1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677</Words>
  <Application>Microsoft Office PowerPoint</Application>
  <PresentationFormat>Presentación en pantalla (16:9)</PresentationFormat>
  <Paragraphs>69</Paragraphs>
  <Slides>11</Slides>
  <Notes>11</Notes>
  <HiddenSlides>4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7" baseType="lpstr">
      <vt:lpstr>Inter ExtraBold</vt:lpstr>
      <vt:lpstr>Arial</vt:lpstr>
      <vt:lpstr>Inter Medium</vt:lpstr>
      <vt:lpstr>Inter</vt:lpstr>
      <vt:lpstr>Roboto Mono</vt:lpstr>
      <vt:lpstr>Simple Light</vt:lpstr>
      <vt:lpstr>Python Básico    Bienvenidos a este emocionante curso de Python, donde aprenderán las habilidades fundamentales para convertirse en programadores exitosos</vt:lpstr>
      <vt:lpstr>Speaker</vt:lpstr>
      <vt:lpstr>Agenda para hoy</vt:lpstr>
      <vt:lpstr>Objetivos</vt:lpstr>
      <vt:lpstr>Variables y tipos de datos</vt:lpstr>
      <vt:lpstr>Operaciones aritméticas y mensajes de error</vt:lpstr>
      <vt:lpstr>Introducción a strings</vt:lpstr>
      <vt:lpstr>Introducción a Listas</vt:lpstr>
      <vt:lpstr>Codificando juntos</vt:lpstr>
      <vt:lpstr>Presentación de PowerPoint</vt:lpstr>
      <vt:lpstr>¡Gracias      por acompañarnos!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Juan Sebastian Araujo</dc:creator>
  <cp:lastModifiedBy>Leyton Jean Piere Castro</cp:lastModifiedBy>
  <cp:revision>1</cp:revision>
  <dcterms:modified xsi:type="dcterms:W3CDTF">2025-06-21T04:50:31Z</dcterms:modified>
</cp:coreProperties>
</file>