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96">
          <p15:clr>
            <a:srgbClr val="747775"/>
          </p15:clr>
        </p15:guide>
        <p15:guide id="2" orient="horz" pos="1800">
          <p15:clr>
            <a:srgbClr val="747775"/>
          </p15:clr>
        </p15:guide>
        <p15:guide id="3" orient="horz" pos="2044">
          <p15:clr>
            <a:srgbClr val="747775"/>
          </p15:clr>
        </p15:guide>
        <p15:guide id="4" pos="5616">
          <p15:clr>
            <a:srgbClr val="747775"/>
          </p15:clr>
        </p15:guide>
        <p15:guide id="5" pos="144">
          <p15:clr>
            <a:srgbClr val="747775"/>
          </p15:clr>
        </p15:guide>
        <p15:guide id="6" pos="2022">
          <p15:clr>
            <a:srgbClr val="747775"/>
          </p15:clr>
        </p15:guide>
        <p15:guide id="7" pos="3901">
          <p15:clr>
            <a:srgbClr val="747775"/>
          </p15:clr>
        </p15:guide>
        <p15:guide id="8" orient="horz" pos="939">
          <p15:clr>
            <a:srgbClr val="747775"/>
          </p15:clr>
        </p15:guide>
        <p15:guide id="9" pos="24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j8tNZSu5dMjQ1Z8NnJe6pNwKBd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96" orient="horz"/>
        <p:guide pos="1800" orient="horz"/>
        <p:guide pos="2044" orient="horz"/>
        <p:guide pos="5616"/>
        <p:guide pos="144"/>
        <p:guide pos="2022"/>
        <p:guide pos="3901"/>
        <p:guide pos="939" orient="horz"/>
        <p:guide pos="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RobotoMono-regular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e433a42c2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2e433a42c2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994d56a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2994d56a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994d56a0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2994d56a0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type="ctrTitle"/>
          </p:nvPr>
        </p:nvSpPr>
        <p:spPr>
          <a:xfrm>
            <a:off x="64001" y="638300"/>
            <a:ext cx="75951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6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Python </a:t>
            </a:r>
            <a:r>
              <a:rPr lang="en" sz="6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Básico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Bienvenidos a este emocionante curso de Python, donde aprenderán las habilidades fundamentales para convertirse en programadores exitosos</a:t>
            </a:r>
            <a:endParaRPr b="0" i="0" sz="58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" name="Google Shape;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Agenda para hoy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5950" y="1498800"/>
            <a:ext cx="2779800" cy="934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Revisión de teoría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0" i="0" lang="en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Variables y tipos de datos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0" i="0" lang="en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Oper. aritméticas y errores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Funciones de python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Strings</a:t>
            </a:r>
            <a:b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Listas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5100" y="2919833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Codificando juntos + Quiz!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5950" y="4193650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Preguntas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39110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361950" y="3307575"/>
            <a:ext cx="220650" cy="11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g2e433a42c2d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2e433a42c2d_0_1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" name="Google Shape;54;g2e433a42c2d_0_1"/>
          <p:cNvSpPr/>
          <p:nvPr/>
        </p:nvSpPr>
        <p:spPr>
          <a:xfrm>
            <a:off x="505950" y="1498800"/>
            <a:ext cx="4663500" cy="11478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Escribir y ejecutar código básico en </a:t>
            </a:r>
            <a:r>
              <a:rPr b="1" lang="en" sz="1100">
                <a:solidFill>
                  <a:schemeClr val="dk1"/>
                </a:solidFill>
              </a:rPr>
              <a:t>Jupyter Notebook (Colab)</a:t>
            </a:r>
            <a:r>
              <a:rPr lang="en" sz="1100">
                <a:solidFill>
                  <a:schemeClr val="dk1"/>
                </a:solidFill>
              </a:rPr>
              <a:t>, aplicando </a:t>
            </a:r>
            <a:r>
              <a:rPr b="1" lang="en" sz="1100">
                <a:solidFill>
                  <a:schemeClr val="dk1"/>
                </a:solidFill>
              </a:rPr>
              <a:t>variables, tipos de datos, manejo de errores, cadenas y listas</a:t>
            </a:r>
            <a:r>
              <a:rPr lang="en" sz="1100">
                <a:solidFill>
                  <a:schemeClr val="dk1"/>
                </a:solidFill>
              </a:rPr>
              <a:t>, a través de ejercicios prácticos y preguntas teóricas.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g2e433a42c2d_0_1"/>
          <p:cNvSpPr/>
          <p:nvPr/>
        </p:nvSpPr>
        <p:spPr>
          <a:xfrm>
            <a:off x="535100" y="2919825"/>
            <a:ext cx="4663500" cy="12813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Participar en una </a:t>
            </a:r>
            <a:r>
              <a:rPr b="1" lang="en" sz="1100">
                <a:solidFill>
                  <a:schemeClr val="dk1"/>
                </a:solidFill>
              </a:rPr>
              <a:t>sesión de codificación colaborativa</a:t>
            </a:r>
            <a:r>
              <a:rPr lang="en" sz="1100">
                <a:solidFill>
                  <a:schemeClr val="dk1"/>
                </a:solidFill>
              </a:rPr>
              <a:t> para resolver ejercicios en Python de manera estructurada y guiada, completando </a:t>
            </a:r>
            <a:r>
              <a:rPr b="1" lang="en" sz="1100">
                <a:solidFill>
                  <a:schemeClr val="dk1"/>
                </a:solidFill>
              </a:rPr>
              <a:t>dos ejercicios en Colab</a:t>
            </a:r>
            <a:r>
              <a:rPr lang="en" sz="1100">
                <a:solidFill>
                  <a:schemeClr val="dk1"/>
                </a:solidFill>
              </a:rPr>
              <a:t>, aplicando los conceptos aprendidos de forma práctica y activa. 🚀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g2e433a42c2d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e433a42c2d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260750" y="2026175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e433a42c2d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Variables y tipos de datos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28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Variables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Las variables son contenedores que permiten almacenar y manipular diferentes tipos de datos en Python. Siguen convenciones de nombramiento claras para facilitar su uso.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1821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Tipos de datos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Python admite varios tipos de datos, como enteros, flotantes, cadenas de texto y booleanos. Cada uno tiene sus propias características y usos específicos. Función: type(variable)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35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Conversión de tipos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Cuando es necesario, podemos convertir entre diferentes tipos de datos utilizando funciones integradas como int(), float() y str(). Esto nos permite operar con los datos de manera flexible.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4" y="1643103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4498" y="1643105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8009" y="1643104"/>
            <a:ext cx="406490" cy="57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/>
          <p:nvPr>
            <p:ph type="ctrTitle"/>
          </p:nvPr>
        </p:nvSpPr>
        <p:spPr>
          <a:xfrm>
            <a:off x="96875" y="424975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Operaciones aritméticas y mensajes de error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28600" y="1993375"/>
            <a:ext cx="2722200" cy="29217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Operaciones aritméticas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Python permite realizar operaciones matemáticas básicas como suma (+), resta (-), multiplicación (*) y división (/). También admite operadores avanzados como potenciación (**) y módulo (%).</a:t>
            </a:r>
            <a:endParaRPr b="0" i="0" sz="1200" u="none" cap="none" strike="noStrik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209550" y="1993375"/>
            <a:ext cx="2724900" cy="29217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Mensajes</a:t>
            </a:r>
            <a:b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error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 importante familiarizarse con los mensajes de error comunes en Python. Esto nos ayudará a identificar y resolver problemas de manera eficiente durante el desarrollo.</a:t>
            </a:r>
            <a:endParaRPr b="0" i="0" sz="2400" u="none" cap="none" strike="noStrik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193200" y="1993375"/>
            <a:ext cx="2724900" cy="29040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Aprendizaje continuo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 medida que avancen en su viaje de aprendizaje de Python, seguirán encontrando nuevos conceptos y desafíos. Mantengan una actitud de aprendizaje constante para dominar este lenguaje de programación.</a:t>
            </a:r>
            <a:endParaRPr b="0" i="0" sz="2400" u="none" cap="none" strike="noStrik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2994d56a0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2994d56a0f_0_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Introducción a strings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" name="Google Shape;86;g32994d56a0f_0_0"/>
          <p:cNvSpPr/>
          <p:nvPr/>
        </p:nvSpPr>
        <p:spPr>
          <a:xfrm>
            <a:off x="228600" y="1490700"/>
            <a:ext cx="4302300" cy="1491600"/>
          </a:xfrm>
          <a:prstGeom prst="roundRect">
            <a:avLst>
              <a:gd fmla="val 112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Definición de strings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Los strings son secuencias de caracteres, como letras, números y símbolos, que se utilizan para representar y manipular texto en Python.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g32994d56a0f_0_0"/>
          <p:cNvSpPr/>
          <p:nvPr/>
        </p:nvSpPr>
        <p:spPr>
          <a:xfrm>
            <a:off x="4638450" y="1490700"/>
            <a:ext cx="4277100" cy="1491600"/>
          </a:xfrm>
          <a:prstGeom prst="roundRect">
            <a:avLst>
              <a:gd fmla="val 1205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Índices y slices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Podemos acceder a caracteres específicos dentro de un string utilizando índices, y crear subcadenas a través de slices. Ej.: str[0], str[1:3]</a:t>
            </a:r>
            <a:endParaRPr b="0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2994d56a0f_0_0"/>
          <p:cNvSpPr/>
          <p:nvPr/>
        </p:nvSpPr>
        <p:spPr>
          <a:xfrm>
            <a:off x="228600" y="3150575"/>
            <a:ext cx="4302300" cy="1764300"/>
          </a:xfrm>
          <a:prstGeom prst="roundRect">
            <a:avLst>
              <a:gd fmla="val 105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Strings formateados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Python ofrece formas eficientes de formatear strings, como f-strings y el método format(), para incorporar valores dinámicos de manera clara y legible.</a:t>
            </a:r>
            <a:endParaRPr b="0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2994d56a0f_0_0"/>
          <p:cNvSpPr/>
          <p:nvPr/>
        </p:nvSpPr>
        <p:spPr>
          <a:xfrm>
            <a:off x="4638400" y="3150575"/>
            <a:ext cx="4277100" cy="1764300"/>
          </a:xfrm>
          <a:prstGeom prst="roundRect">
            <a:avLst>
              <a:gd fmla="val 909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Métodos de strings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Los strings cuentan con una variedad de métodos útiles, como upper(), lower(), split() y join(), que facilitan la manipulación y transformación de texto.</a:t>
            </a:r>
            <a:endParaRPr b="0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2994d56a0f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2994d56a0f_0_33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Introducción a 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Listas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6" name="Google Shape;96;g32994d56a0f_0_33"/>
          <p:cNvSpPr/>
          <p:nvPr/>
        </p:nvSpPr>
        <p:spPr>
          <a:xfrm>
            <a:off x="228600" y="1490700"/>
            <a:ext cx="4302300" cy="1491600"/>
          </a:xfrm>
          <a:prstGeom prst="roundRect">
            <a:avLst>
              <a:gd fmla="val 112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Definición de </a:t>
            </a:r>
            <a:r>
              <a:rPr b="1" lang="en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listas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Las listas en Python son colecciones ordenadas y mutables que pueden contener diferentes tipos de datos, como números y strings.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g32994d56a0f_0_33"/>
          <p:cNvSpPr/>
          <p:nvPr/>
        </p:nvSpPr>
        <p:spPr>
          <a:xfrm>
            <a:off x="4638450" y="1490700"/>
            <a:ext cx="4277100" cy="1491600"/>
          </a:xfrm>
          <a:prstGeom prst="roundRect">
            <a:avLst>
              <a:gd fmla="val 1205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Índices y slices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 accede a los elementos mediante índices, empezando desde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100">
                <a:solidFill>
                  <a:schemeClr val="dk1"/>
                </a:solidFill>
              </a:rPr>
              <a:t> o con índices negativos.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Ejemplo: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lista[0]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lista[-1]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lista[1:4]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g32994d56a0f_0_33"/>
          <p:cNvSpPr/>
          <p:nvPr/>
        </p:nvSpPr>
        <p:spPr>
          <a:xfrm>
            <a:off x="228600" y="3150575"/>
            <a:ext cx="4302300" cy="1764300"/>
          </a:xfrm>
          <a:prstGeom prst="roundRect">
            <a:avLst>
              <a:gd fmla="val 105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Modificación de listas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Las listas permiten modificar, agregar o eliminar elementos.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g32994d56a0f_0_33"/>
          <p:cNvSpPr/>
          <p:nvPr/>
        </p:nvSpPr>
        <p:spPr>
          <a:xfrm>
            <a:off x="4638400" y="3150575"/>
            <a:ext cx="4277100" cy="1764300"/>
          </a:xfrm>
          <a:prstGeom prst="roundRect">
            <a:avLst>
              <a:gd fmla="val 909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Operaciones y Métodos con listas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Concatenación: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lista1 + lista2</a:t>
            </a:r>
            <a:b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800">
                <a:solidFill>
                  <a:schemeClr val="dk1"/>
                </a:solidFill>
              </a:rPr>
              <a:t>Repetición: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 * 3</a:t>
            </a:r>
            <a:b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800">
                <a:solidFill>
                  <a:schemeClr val="dk1"/>
                </a:solidFill>
              </a:rPr>
              <a:t>Longitud: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len(lista)</a:t>
            </a:r>
            <a:b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800">
                <a:solidFill>
                  <a:schemeClr val="dk1"/>
                </a:solidFill>
              </a:rPr>
              <a:t>Verificación: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 in lista</a:t>
            </a:r>
            <a:endParaRPr sz="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0" name="Google Shape;100;g32994d56a0f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225" y="4184250"/>
            <a:ext cx="3081750" cy="672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01" name="Google Shape;101;g32994d56a0f_0_33"/>
          <p:cNvSpPr txBox="1"/>
          <p:nvPr/>
        </p:nvSpPr>
        <p:spPr>
          <a:xfrm>
            <a:off x="6999300" y="3686400"/>
            <a:ext cx="19161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append()</a:t>
            </a:r>
            <a:r>
              <a:rPr lang="en" sz="800">
                <a:solidFill>
                  <a:schemeClr val="dk1"/>
                </a:solidFill>
              </a:rPr>
              <a:t>: Agrega un elemento.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insert()</a:t>
            </a:r>
            <a:r>
              <a:rPr lang="en" sz="800">
                <a:solidFill>
                  <a:schemeClr val="dk1"/>
                </a:solidFill>
              </a:rPr>
              <a:t>: Inserta un elemento.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remove()</a:t>
            </a:r>
            <a:r>
              <a:rPr lang="en" sz="800">
                <a:solidFill>
                  <a:schemeClr val="dk1"/>
                </a:solidFill>
              </a:rPr>
              <a:t>: Elimina un valor.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pop()</a:t>
            </a:r>
            <a:r>
              <a:rPr lang="en" sz="800">
                <a:solidFill>
                  <a:schemeClr val="dk1"/>
                </a:solidFill>
              </a:rPr>
              <a:t>: Extrae un elemento.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sort()</a:t>
            </a:r>
            <a:r>
              <a:rPr lang="en" sz="800">
                <a:solidFill>
                  <a:schemeClr val="dk1"/>
                </a:solidFill>
              </a:rPr>
              <a:t>: Ordena la lista.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Codificando juntos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095375" y="2438452"/>
            <a:ext cx="30507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Operaciones aritméticas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Realizar operaciones matemáticas.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1171575" y="3966245"/>
            <a:ext cx="29508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Mensajes de error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Realizar tratamiento de errores.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67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1329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 txBox="1"/>
          <p:nvPr/>
        </p:nvSpPr>
        <p:spPr>
          <a:xfrm>
            <a:off x="4894600" y="2438452"/>
            <a:ext cx="30507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Strings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Manipular y formatear texto en Python.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4970800" y="3966245"/>
            <a:ext cx="2950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Listas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Almacenar, modificar y operar con colecciones de datos.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0792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0554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8680" cy="1917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 txBox="1"/>
          <p:nvPr/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F2F1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¿Preguntas?</a:t>
            </a:r>
            <a:endParaRPr b="0" i="0" sz="4000" u="none" cap="none" strike="noStrike">
              <a:solidFill>
                <a:srgbClr val="F2F1EE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139800" y="2298300"/>
            <a:ext cx="6053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2F1EE"/>
                </a:solidFill>
                <a:latin typeface="Inter"/>
                <a:ea typeface="Inter"/>
                <a:cs typeface="Inter"/>
                <a:sym typeface="Inter"/>
              </a:rPr>
              <a:t>Estoy aquí para ayudarles. No duden en contactarme si tienen alguna duda o inquietud.</a:t>
            </a:r>
            <a:endParaRPr b="0" i="0" sz="2000" u="none" cap="none" strike="noStrike">
              <a:solidFill>
                <a:srgbClr val="F2F1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1131575"/>
            <a:ext cx="6401751" cy="25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ctrTitle"/>
          </p:nvPr>
        </p:nvSpPr>
        <p:spPr>
          <a:xfrm>
            <a:off x="311688" y="17406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" sz="48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¡Gracias      por acompañarnos!</a:t>
            </a:r>
            <a:endParaRPr b="0" i="0" sz="48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383" y="1957825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8613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 txBox="1"/>
          <p:nvPr/>
        </p:nvSpPr>
        <p:spPr>
          <a:xfrm>
            <a:off x="1772400" y="4267150"/>
            <a:ext cx="5599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Les deseo lo mejor en su viaje de aprendizaje de Python. </a:t>
            </a:r>
            <a:b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¡Que esta sea la puerta de entrada a un mundo de posibilidades!</a:t>
            </a:r>
            <a:endParaRPr b="0" i="0" sz="1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Sebastian Araujo</dc:creator>
</cp:coreProperties>
</file>