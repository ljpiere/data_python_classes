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Inter ExtraBold"/>
      <p:bold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96">
          <p15:clr>
            <a:srgbClr val="747775"/>
          </p15:clr>
        </p15:guide>
        <p15:guide id="2" orient="horz" pos="1800">
          <p15:clr>
            <a:srgbClr val="747775"/>
          </p15:clr>
        </p15:guide>
        <p15:guide id="3" orient="horz" pos="2044">
          <p15:clr>
            <a:srgbClr val="747775"/>
          </p15:clr>
        </p15:guide>
        <p15:guide id="4" pos="5616">
          <p15:clr>
            <a:srgbClr val="747775"/>
          </p15:clr>
        </p15:guide>
        <p15:guide id="5" pos="144">
          <p15:clr>
            <a:srgbClr val="747775"/>
          </p15:clr>
        </p15:guide>
        <p15:guide id="6" pos="2022">
          <p15:clr>
            <a:srgbClr val="747775"/>
          </p15:clr>
        </p15:guide>
        <p15:guide id="7" pos="3901">
          <p15:clr>
            <a:srgbClr val="747775"/>
          </p15:clr>
        </p15:guide>
        <p15:guide id="8" orient="horz" pos="939">
          <p15:clr>
            <a:srgbClr val="747775"/>
          </p15:clr>
        </p15:guide>
        <p15:guide id="9" pos="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96" orient="horz"/>
        <p:guide pos="1800" orient="horz"/>
        <p:guide pos="2044" orient="horz"/>
        <p:guide pos="5616"/>
        <p:guide pos="144"/>
        <p:guide pos="2022"/>
        <p:guide pos="3901"/>
        <p:guide pos="939" orient="horz"/>
        <p:guide pos="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ExtraBold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4c65e990e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g34c65e990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6.gif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ctrTitle"/>
          </p:nvPr>
        </p:nvSpPr>
        <p:spPr>
          <a:xfrm>
            <a:off x="64001" y="638300"/>
            <a:ext cx="7595100" cy="23749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6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Python Básico Continuación</a:t>
            </a:r>
            <a:endParaRPr b="0" i="0" sz="6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Bienvenidos a este emocionante curso de Python, donde aprenderán las habilidades fundamentales para convertirse en programadores exitosos.</a:t>
            </a:r>
            <a:endParaRPr b="0" i="0" sz="54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2" name="Google Shape;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4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ES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Agenda para hoy</a:t>
            </a:r>
            <a:endParaRPr/>
          </a:p>
        </p:txBody>
      </p:sp>
      <p:sp>
        <p:nvSpPr>
          <p:cNvPr id="39" name="Google Shape;39;p14"/>
          <p:cNvSpPr/>
          <p:nvPr/>
        </p:nvSpPr>
        <p:spPr>
          <a:xfrm>
            <a:off x="505950" y="1498800"/>
            <a:ext cx="2779800" cy="721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s-E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Revisión de teoría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Diccionarios / loops / sentencia condicional / funciones</a:t>
            </a:r>
            <a:endParaRPr/>
          </a:p>
        </p:txBody>
      </p:sp>
      <p:sp>
        <p:nvSpPr>
          <p:cNvPr id="40" name="Google Shape;40;p14"/>
          <p:cNvSpPr/>
          <p:nvPr/>
        </p:nvSpPr>
        <p:spPr>
          <a:xfrm>
            <a:off x="505950" y="2397083"/>
            <a:ext cx="2779800" cy="721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s-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Challenge Group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14"/>
          <p:cNvSpPr/>
          <p:nvPr/>
        </p:nvSpPr>
        <p:spPr>
          <a:xfrm>
            <a:off x="505950" y="3295367"/>
            <a:ext cx="2779800" cy="721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b="0" i="0" lang="es-E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Breakout rooms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14"/>
          <p:cNvSpPr/>
          <p:nvPr/>
        </p:nvSpPr>
        <p:spPr>
          <a:xfrm>
            <a:off x="505950" y="4193650"/>
            <a:ext cx="2779800" cy="721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4. Preguntas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" name="Google Shape;4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8650" y="1645775"/>
            <a:ext cx="4368799" cy="436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10800000">
            <a:off x="228608" y="1970975"/>
            <a:ext cx="220642" cy="67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8" y="3747100"/>
            <a:ext cx="220642" cy="67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3361950" y="2900312"/>
            <a:ext cx="220642" cy="67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5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" name="Google Shape;53;p15"/>
          <p:cNvSpPr/>
          <p:nvPr/>
        </p:nvSpPr>
        <p:spPr>
          <a:xfrm>
            <a:off x="505950" y="1498800"/>
            <a:ext cx="4663500" cy="11478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</a:rPr>
              <a:t> Vamos a repasar conceptos importantes como</a:t>
            </a:r>
            <a:r>
              <a:rPr b="1" lang="es-ES" sz="1100">
                <a:solidFill>
                  <a:schemeClr val="dk1"/>
                </a:solidFill>
              </a:rPr>
              <a:t> diccionarios, bucles (</a:t>
            </a:r>
            <a:r>
              <a:rPr b="1" i="1" lang="es-ES" sz="1100">
                <a:solidFill>
                  <a:schemeClr val="dk1"/>
                </a:solidFill>
              </a:rPr>
              <a:t>loops</a:t>
            </a:r>
            <a:r>
              <a:rPr b="1" lang="es-ES" sz="1100">
                <a:solidFill>
                  <a:schemeClr val="dk1"/>
                </a:solidFill>
              </a:rPr>
              <a:t>), sentencias condicionales y funciones</a:t>
            </a:r>
            <a:r>
              <a:rPr lang="es-ES" sz="1100">
                <a:solidFill>
                  <a:schemeClr val="dk1"/>
                </a:solidFill>
              </a:rPr>
              <a:t>. Estos temas están conectados con aplicaciones reales en ciencia y te ayudarán a desarrollar la actividad del día.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5"/>
          <p:cNvSpPr/>
          <p:nvPr/>
        </p:nvSpPr>
        <p:spPr>
          <a:xfrm>
            <a:off x="535100" y="2919825"/>
            <a:ext cx="4663500" cy="13476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100">
                <a:solidFill>
                  <a:schemeClr val="dk1"/>
                </a:solidFill>
              </a:rPr>
              <a:t>Vas a trabajar con tu grupo en la creación de un sistema básico de gestión de inventario, que registre compras y actualice los productos disponibles. Esta actividad la realizaremos en </a:t>
            </a:r>
            <a:r>
              <a:rPr b="1" i="1" lang="es-ES" sz="1100">
                <a:solidFill>
                  <a:schemeClr val="dk1"/>
                </a:solidFill>
              </a:rPr>
              <a:t>breakout rooms</a:t>
            </a:r>
            <a:r>
              <a:rPr lang="es-ES" sz="1100">
                <a:solidFill>
                  <a:schemeClr val="dk1"/>
                </a:solidFill>
              </a:rPr>
              <a:t>, para que puedan colaborar, compartir ideas y resolver dudas juntos.</a:t>
            </a:r>
            <a:br>
              <a:rPr lang="es-ES" sz="1100">
                <a:solidFill>
                  <a:schemeClr val="dk1"/>
                </a:solidFill>
              </a:rPr>
            </a:br>
            <a:r>
              <a:rPr lang="es-ES" sz="1100">
                <a:solidFill>
                  <a:schemeClr val="dk1"/>
                </a:solidFill>
              </a:rPr>
              <a:t>Al finalizar, habrás practicado cómo a</a:t>
            </a:r>
            <a:r>
              <a:rPr b="1" lang="es-ES" sz="1100">
                <a:solidFill>
                  <a:schemeClr val="dk1"/>
                </a:solidFill>
              </a:rPr>
              <a:t>plicar teoría en la práctica</a:t>
            </a:r>
            <a:r>
              <a:rPr lang="es-ES" sz="1100">
                <a:solidFill>
                  <a:schemeClr val="dk1"/>
                </a:solidFill>
              </a:rPr>
              <a:t>, trabajado en equipo, y comenzado a construir soluciones reales usando Python.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695" y="2220300"/>
            <a:ext cx="2562005" cy="26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5260750" y="2026175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75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61356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ES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Diccionario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2286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	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	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	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una colección de pares clave-valor, donde cada </a:t>
            </a:r>
            <a:r>
              <a:rPr b="1" i="0" lang="es-ES" sz="10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key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 única e inmutable </a:t>
            </a:r>
            <a:r>
              <a:rPr b="0" i="1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(strings, integers o tuplas) 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 se utiliza para acceder a su valor correspondiente. El </a:t>
            </a:r>
            <a:r>
              <a:rPr b="1" i="0" lang="es-ES" sz="10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value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 el dato asociado a una clave de una lista, otro diccionario o funciones. </a:t>
            </a:r>
            <a:r>
              <a:rPr b="1" i="1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diccionarios son </a:t>
            </a:r>
            <a:r>
              <a:rPr b="1" i="0" lang="es-ES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mutables</a:t>
            </a:r>
            <a:r>
              <a:rPr b="1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(puedes agregar, eliminar o modificar elementos después de su creación).</a:t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31821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un diccionario que contiene otros diccionarios como </a:t>
            </a:r>
            <a:r>
              <a:rPr b="1" i="0" lang="es-ES" sz="10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values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Es una forma poderosa de representar estructuras de datos jerárquicas o complejas. </a:t>
            </a:r>
            <a:r>
              <a:rPr b="0" i="1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un diccionario dentro de otro diccionario. </a:t>
            </a:r>
            <a:r>
              <a:rPr b="1" i="1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br>
              <a:rPr b="0" i="1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1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b="1" i="0" sz="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4" y="1643103"/>
            <a:ext cx="406490" cy="57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4498" y="1643105"/>
            <a:ext cx="406490" cy="57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8009" y="1643104"/>
            <a:ext cx="406490" cy="57216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855831" y="1554644"/>
            <a:ext cx="2071519" cy="32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Estructura Básica</a:t>
            </a:r>
            <a:endParaRPr/>
          </a:p>
        </p:txBody>
      </p:sp>
      <p:sp>
        <p:nvSpPr>
          <p:cNvPr id="71" name="Google Shape;71;p16"/>
          <p:cNvSpPr txBox="1"/>
          <p:nvPr/>
        </p:nvSpPr>
        <p:spPr>
          <a:xfrm>
            <a:off x="381004" y="3628466"/>
            <a:ext cx="242887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" u="none" cap="none" strike="noStrike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persona = 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nombre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":     "</a:t>
            </a:r>
            <a:r>
              <a:rPr b="0" i="0" lang="es-ES" sz="7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Juan Pérez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edad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":          </a:t>
            </a:r>
            <a:r>
              <a:rPr b="0" i="0" lang="es-ES" sz="7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ciudad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":      "</a:t>
            </a:r>
            <a:r>
              <a:rPr b="0" i="0" lang="es-ES" sz="7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Madrid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", 	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profesión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": "</a:t>
            </a:r>
            <a:r>
              <a:rPr b="0" i="0" lang="es-ES" sz="7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Ingeniero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 }</a:t>
            </a:r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3890381" y="1554644"/>
            <a:ext cx="2071519" cy="32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Diccionario Anidado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6769190" y="1554644"/>
            <a:ext cx="2071519" cy="816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Acceder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Agregar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Modificar datos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6238037" y="2726364"/>
            <a:ext cx="2602672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nombre = persona["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nombre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"] </a:t>
            </a:r>
            <a:r>
              <a:rPr b="0" i="1" lang="es-ES" sz="7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# Acceder al valor 	                      asociado a la clave 	                      "nombre"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print(nombre) 	                    </a:t>
            </a:r>
            <a:r>
              <a:rPr b="0" i="1" lang="es-ES" sz="7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# Imprime: Juan Pérez</a:t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7177086" y="2427676"/>
            <a:ext cx="736591" cy="199781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7177086" y="2411477"/>
            <a:ext cx="73659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Acceder</a:t>
            </a:r>
            <a:endParaRPr b="1" i="0" sz="1000" u="none" cap="none" strike="noStrike">
              <a:solidFill>
                <a:srgbClr val="FF8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851661" y="3612563"/>
            <a:ext cx="1343028" cy="199781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6817853" y="3589344"/>
            <a:ext cx="144303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Agregar / modificar</a:t>
            </a:r>
            <a:endParaRPr b="1" i="0" sz="10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6238037" y="3868403"/>
            <a:ext cx="2524959" cy="719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Persona ["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país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"] = "España"  </a:t>
            </a:r>
            <a:r>
              <a:rPr b="0" i="1" lang="es-ES" sz="7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# Agregar un nuevo par 	             clave-valor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Persona ["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edad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"] = 31  </a:t>
            </a:r>
            <a:r>
              <a:rPr b="0" i="1" lang="es-ES" sz="7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# Modificar el valor asociado a 	   la clave "edad"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334497" y="3357306"/>
            <a:ext cx="2539253" cy="1492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estudiantes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=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Juan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":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Matemáticas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": </a:t>
            </a:r>
            <a:r>
              <a:rPr b="0" i="0" lang="es-ES" sz="7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90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Ciencias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": </a:t>
            </a:r>
            <a:r>
              <a:rPr b="0" i="0" lang="es-ES" sz="7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85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},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María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":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Matemáticas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": </a:t>
            </a:r>
            <a:r>
              <a:rPr b="0" i="0" lang="es-ES" sz="7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95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Historia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": </a:t>
            </a:r>
            <a:r>
              <a:rPr b="0" i="0" lang="es-ES" sz="7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88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Print(</a:t>
            </a:r>
            <a:r>
              <a:rPr b="0" i="0" lang="es-ES" sz="7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estudiantes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Juan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"]["</a:t>
            </a:r>
            <a:r>
              <a:rPr b="0" i="0" lang="es-ES" sz="7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Matemáticas</a:t>
            </a:r>
            <a:r>
              <a:rPr b="0" i="0" lang="es-E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"])  	                            </a:t>
            </a:r>
            <a:r>
              <a:rPr b="0" i="1" lang="es-ES" sz="7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# Imprime 90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745831" y="3361925"/>
            <a:ext cx="1183482" cy="191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Key del diccionario principal</a:t>
            </a:r>
            <a:endParaRPr b="0" i="0" sz="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376612" y="3400425"/>
            <a:ext cx="578643" cy="11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6"/>
          <p:cNvCxnSpPr>
            <a:stCxn id="82" idx="3"/>
            <a:endCxn id="81" idx="1"/>
          </p:cNvCxnSpPr>
          <p:nvPr/>
        </p:nvCxnSpPr>
        <p:spPr>
          <a:xfrm>
            <a:off x="3955255" y="3457575"/>
            <a:ext cx="790500" cy="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" name="Google Shape;84;p16"/>
          <p:cNvSpPr/>
          <p:nvPr/>
        </p:nvSpPr>
        <p:spPr>
          <a:xfrm>
            <a:off x="4764413" y="3588750"/>
            <a:ext cx="1164900" cy="191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Value del diccionario principal</a:t>
            </a:r>
            <a:endParaRPr b="0" i="0" sz="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522332" y="3514725"/>
            <a:ext cx="335757" cy="11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16"/>
          <p:cNvCxnSpPr>
            <a:stCxn id="85" idx="3"/>
            <a:endCxn id="84" idx="1"/>
          </p:cNvCxnSpPr>
          <p:nvPr/>
        </p:nvCxnSpPr>
        <p:spPr>
          <a:xfrm>
            <a:off x="3858089" y="3571875"/>
            <a:ext cx="906300" cy="11250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" name="Google Shape;87;p16"/>
          <p:cNvSpPr/>
          <p:nvPr/>
        </p:nvSpPr>
        <p:spPr>
          <a:xfrm>
            <a:off x="3519995" y="3940373"/>
            <a:ext cx="335757" cy="11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6"/>
          <p:cNvCxnSpPr>
            <a:stCxn id="87" idx="3"/>
          </p:cNvCxnSpPr>
          <p:nvPr/>
        </p:nvCxnSpPr>
        <p:spPr>
          <a:xfrm flipH="1" rot="10800000">
            <a:off x="3855752" y="3684323"/>
            <a:ext cx="890100" cy="31320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" name="Google Shape;89;p16"/>
          <p:cNvSpPr/>
          <p:nvPr/>
        </p:nvSpPr>
        <p:spPr>
          <a:xfrm>
            <a:off x="3619498" y="3614136"/>
            <a:ext cx="647702" cy="108765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6"/>
          <p:cNvCxnSpPr>
            <a:stCxn id="89" idx="3"/>
          </p:cNvCxnSpPr>
          <p:nvPr/>
        </p:nvCxnSpPr>
        <p:spPr>
          <a:xfrm>
            <a:off x="4267200" y="3668518"/>
            <a:ext cx="478500" cy="28110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" name="Google Shape;91;p16"/>
          <p:cNvSpPr/>
          <p:nvPr/>
        </p:nvSpPr>
        <p:spPr>
          <a:xfrm>
            <a:off x="3618049" y="3718797"/>
            <a:ext cx="475451" cy="108765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6"/>
          <p:cNvCxnSpPr>
            <a:stCxn id="91" idx="3"/>
          </p:cNvCxnSpPr>
          <p:nvPr/>
        </p:nvCxnSpPr>
        <p:spPr>
          <a:xfrm>
            <a:off x="4093500" y="3773180"/>
            <a:ext cx="652200" cy="16710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p16"/>
          <p:cNvSpPr/>
          <p:nvPr/>
        </p:nvSpPr>
        <p:spPr>
          <a:xfrm>
            <a:off x="3594237" y="4149497"/>
            <a:ext cx="480082" cy="108765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 flipH="1" rot="10800000">
            <a:off x="4074319" y="3947673"/>
            <a:ext cx="671512" cy="256206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" name="Google Shape;95;p16"/>
          <p:cNvSpPr/>
          <p:nvPr/>
        </p:nvSpPr>
        <p:spPr>
          <a:xfrm>
            <a:off x="4758459" y="3865385"/>
            <a:ext cx="1164900" cy="191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Key del diccionario secundario anidado</a:t>
            </a:r>
            <a:endParaRPr b="0" i="0" sz="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267200" y="3593119"/>
            <a:ext cx="169198" cy="150798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095793" y="3712624"/>
            <a:ext cx="161160" cy="137531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275238" y="4027522"/>
            <a:ext cx="161160" cy="137531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4062860" y="4137266"/>
            <a:ext cx="161160" cy="137531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16"/>
          <p:cNvCxnSpPr/>
          <p:nvPr/>
        </p:nvCxnSpPr>
        <p:spPr>
          <a:xfrm>
            <a:off x="4224020" y="4208219"/>
            <a:ext cx="495898" cy="54629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16"/>
          <p:cNvCxnSpPr/>
          <p:nvPr/>
        </p:nvCxnSpPr>
        <p:spPr>
          <a:xfrm>
            <a:off x="4435727" y="4100806"/>
            <a:ext cx="284191" cy="162042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16"/>
          <p:cNvCxnSpPr/>
          <p:nvPr/>
        </p:nvCxnSpPr>
        <p:spPr>
          <a:xfrm>
            <a:off x="4436983" y="3672637"/>
            <a:ext cx="282935" cy="60216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16"/>
          <p:cNvCxnSpPr/>
          <p:nvPr/>
        </p:nvCxnSpPr>
        <p:spPr>
          <a:xfrm>
            <a:off x="4257429" y="3773357"/>
            <a:ext cx="469022" cy="50144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p16"/>
          <p:cNvSpPr/>
          <p:nvPr/>
        </p:nvSpPr>
        <p:spPr>
          <a:xfrm>
            <a:off x="4758459" y="4160544"/>
            <a:ext cx="1164900" cy="191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Value del diccionario secundario anidado</a:t>
            </a:r>
            <a:endParaRPr b="0" i="0" sz="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>
            <p:ph type="ctrTitle"/>
          </p:nvPr>
        </p:nvSpPr>
        <p:spPr>
          <a:xfrm>
            <a:off x="96875" y="424975"/>
            <a:ext cx="8520600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ES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Loops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225900" y="1475054"/>
            <a:ext cx="2722200" cy="3440021"/>
          </a:xfrm>
          <a:prstGeom prst="snip2DiagRect">
            <a:avLst>
              <a:gd fmla="val 0" name="adj1"/>
              <a:gd fmla="val 921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While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209549" y="994493"/>
            <a:ext cx="2724900" cy="3833814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6193200" y="293676"/>
            <a:ext cx="2724900" cy="4603699"/>
          </a:xfrm>
          <a:prstGeom prst="snip1Rect">
            <a:avLst>
              <a:gd fmla="val 96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Iteración sobre diccionario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10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permite recorrer cada uno de sus elementos (pares clave-valor) para realizar alguna operación con ellos. Python ofrece varias formas de iterar sobre diccionarios:</a:t>
            </a:r>
            <a:endParaRPr b="0" i="0" sz="1800" u="none" cap="none" strike="noStrike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32569" y="2162470"/>
            <a:ext cx="241789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una estructura de control que te permite repetir un bloque de código </a:t>
            </a:r>
            <a:r>
              <a:rPr b="0" i="1" lang="es-E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mientras</a:t>
            </a:r>
            <a:r>
              <a:rPr b="0" i="0" lang="es-E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 cumpla una condición específica.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781662" y="3330845"/>
            <a:ext cx="1759410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contador = </a:t>
            </a:r>
            <a:r>
              <a:rPr b="0" i="0" lang="es-ES" sz="9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while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contador &lt;= </a:t>
            </a:r>
            <a:r>
              <a:rPr b="0" i="0" lang="es-ES" sz="9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print(contador)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contador += 1  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638373" y="4283254"/>
            <a:ext cx="1996123" cy="42263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 que se esta realizando es contar hasta 5.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408227" y="1417588"/>
            <a:ext cx="2324845" cy="2123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una estructura de control que te permite iterar sobre una secuencia de elementos, como una lista, una tupla, una cadena o un rango de números. A diferencia de </a:t>
            </a:r>
            <a:r>
              <a:rPr b="0" i="1" lang="es-ES" sz="11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while</a:t>
            </a:r>
            <a:r>
              <a:rPr b="0" i="0" lang="es-E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el bucle </a:t>
            </a:r>
            <a:r>
              <a:rPr b="0" i="1" lang="es-ES" sz="11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for</a:t>
            </a:r>
            <a:r>
              <a:rPr b="0" i="0" lang="es-E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itera sobre cada elemento de la secuencia y ejecuta un bloque de código para cada uno de ellos.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3381689" y="3589084"/>
            <a:ext cx="25610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frutas = ["</a:t>
            </a:r>
            <a:r>
              <a:rPr b="0" i="0" lang="es-ES" sz="9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manzana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", "</a:t>
            </a:r>
            <a:r>
              <a:rPr b="0" i="0" lang="es-ES" sz="9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banana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", "</a:t>
            </a:r>
            <a:r>
              <a:rPr b="0" i="0" lang="es-ES" sz="9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naranja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for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s-ES" sz="9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fruta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 frutas: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print (f "Me gusta la {</a:t>
            </a:r>
            <a:r>
              <a:rPr b="0" i="0" lang="es-ES" sz="9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fruta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}")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3898900" y="4283254"/>
            <a:ext cx="1355725" cy="435272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 gusta la </a:t>
            </a:r>
            <a:r>
              <a:rPr b="0" i="1" lang="es-ES" sz="8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manzana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 gusta la </a:t>
            </a:r>
            <a:r>
              <a:rPr b="0" i="1" lang="es-ES" sz="8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banana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 gusta la </a:t>
            </a:r>
            <a:r>
              <a:rPr b="0" i="1" lang="es-ES" sz="8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naranja</a:t>
            </a:r>
            <a:endParaRPr b="0" i="1" sz="800" u="none" cap="none" strike="noStrike">
              <a:solidFill>
                <a:srgbClr val="008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364465" y="2349304"/>
            <a:ext cx="149136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1 - Solo sobre keys</a:t>
            </a:r>
            <a:endParaRPr b="0" i="0" sz="1000" u="none" cap="none" strike="noStrike">
              <a:solidFill>
                <a:srgbClr val="FF8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6364465" y="2581481"/>
            <a:ext cx="149136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2 - Sobre los values</a:t>
            </a:r>
            <a:endParaRPr b="0" i="0" sz="1000" u="none" cap="none" strike="noStrike">
              <a:solidFill>
                <a:srgbClr val="FF8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6364464" y="2821669"/>
            <a:ext cx="18851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3 – Mediante </a:t>
            </a:r>
            <a:r>
              <a:rPr b="0" i="0" lang="es-ES" sz="10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items</a:t>
            </a:r>
            <a:endParaRPr b="0" i="0" sz="1000" u="none" cap="none" strike="noStrike">
              <a:solidFill>
                <a:srgbClr val="FF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6364464" y="3053846"/>
            <a:ext cx="188515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3 - Sobre los key-values: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6308452" y="3541246"/>
            <a:ext cx="2494396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mi_diccionario = {"a": 1, "b": 2, "c": 3}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00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for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clave, valor</a:t>
            </a:r>
            <a:r>
              <a:rPr b="0" i="0" lang="es-ES" sz="9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mi_diccionario.items():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print(f "</a:t>
            </a:r>
            <a:r>
              <a:rPr b="0" i="0" lang="es-ES" sz="9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Clave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{clave}, </a:t>
            </a:r>
            <a:r>
              <a:rPr b="0" i="0" lang="es-ES" sz="9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Valor</a:t>
            </a:r>
            <a:r>
              <a:rPr b="0" i="0" lang="es-E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{valor}")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397836" y="4283254"/>
            <a:ext cx="2253011" cy="435272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8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Clave: </a:t>
            </a:r>
            <a:r>
              <a:rPr b="0" i="1" lang="es-ES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1" lang="es-ES" sz="8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, Valor: </a:t>
            </a:r>
            <a:r>
              <a:rPr b="0" i="1" lang="es-ES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8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Clave: </a:t>
            </a:r>
            <a:r>
              <a:rPr b="0" i="1" lang="es-ES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b="0" i="1" lang="es-ES" sz="8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, Valor: </a:t>
            </a:r>
            <a:r>
              <a:rPr b="0" i="1" lang="es-ES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1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8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Clave: </a:t>
            </a:r>
            <a:r>
              <a:rPr b="0" i="1" lang="es-ES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1" lang="es-ES" sz="8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, Valor: </a:t>
            </a:r>
            <a:r>
              <a:rPr b="0" i="1" lang="es-ES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1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1" y="228601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ES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Sentencia condicion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841700" y="1325600"/>
            <a:ext cx="3989880" cy="3688360"/>
          </a:xfrm>
          <a:prstGeom prst="roundRect">
            <a:avLst>
              <a:gd fmla="val 112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IF / ELSE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es una estructura de control condicional que te permite ejecutar diferentes bloques de código dependiendo de si se cumple o no una condición específica. </a:t>
            </a:r>
            <a:r>
              <a:rPr b="1" i="0" lang="es-E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495301" y="1540675"/>
            <a:ext cx="4165599" cy="3069425"/>
          </a:xfrm>
          <a:custGeom>
            <a:rect b="b" l="l" r="r" t="t"/>
            <a:pathLst>
              <a:path extrusionOk="0" h="4114800" w="5598367">
                <a:moveTo>
                  <a:pt x="0" y="0"/>
                </a:moveTo>
                <a:lnTo>
                  <a:pt x="5598367" y="0"/>
                </a:lnTo>
                <a:lnTo>
                  <a:pt x="55983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18"/>
          <p:cNvSpPr txBox="1"/>
          <p:nvPr/>
        </p:nvSpPr>
        <p:spPr>
          <a:xfrm>
            <a:off x="5304852" y="3009689"/>
            <a:ext cx="306357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numero = </a:t>
            </a:r>
            <a:r>
              <a:rPr b="0" i="0" lang="es-ES" sz="1000" u="none" cap="none" strike="noStrik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numero &gt; </a:t>
            </a:r>
            <a:r>
              <a:rPr b="0" i="0" lang="es-ES" sz="1000" u="none" cap="none" strike="noStrik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print ("El número es positivo")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else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print ("El número es negativo o cero")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593627" y="4333326"/>
            <a:ext cx="2486025" cy="523875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número es positivo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1" y="228601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ES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Funciones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228600" y="1490699"/>
            <a:ext cx="4302300" cy="1572875"/>
          </a:xfrm>
          <a:prstGeom prst="roundRect">
            <a:avLst>
              <a:gd fmla="val 112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¿Qué es y para qué sirve?</a:t>
            </a:r>
            <a:endParaRPr b="1" i="0" sz="14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es un bloque de código que realiza una tarea específica. Las funciones te permiten organizar tu código en unidades más pequeñas y reutilizables, lo que hace que tus programas sean más fáciles de leer, entender y mantener.</a:t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253800" y="3222000"/>
            <a:ext cx="4277100" cy="1491600"/>
          </a:xfrm>
          <a:prstGeom prst="roundRect">
            <a:avLst>
              <a:gd fmla="val 1205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¿Cómo se define?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s-ES" sz="11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def </a:t>
            </a:r>
            <a:r>
              <a:rPr b="0" i="1" lang="es-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“nombre de la función” + “ () ” + “ : ”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4638400" y="1490699"/>
            <a:ext cx="4277100" cy="1873225"/>
          </a:xfrm>
          <a:prstGeom prst="roundRect">
            <a:avLst>
              <a:gd fmla="val 909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Ejemplo con IF-else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b="0" i="0" lang="es-ES" sz="900" u="none" cap="none" strike="noStrik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1390232" y="4086120"/>
            <a:ext cx="2178792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def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s-ES" sz="10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mi_funcion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():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print("</a:t>
            </a:r>
            <a:r>
              <a:rPr b="0" i="0" lang="es-ES" sz="1000" u="none" cap="none" strike="noStrike">
                <a:solidFill>
                  <a:srgbClr val="008000"/>
                </a:solidFill>
                <a:latin typeface="Inter"/>
                <a:ea typeface="Inter"/>
                <a:cs typeface="Inter"/>
                <a:sym typeface="Inter"/>
              </a:rPr>
              <a:t>¡Hola desde mi función!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")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4885700" y="2229697"/>
            <a:ext cx="2442505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 validador_positivos(num):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   if 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numero &gt; </a:t>
            </a:r>
            <a:r>
              <a:rPr b="0" i="0" lang="es-ES" sz="1000" u="none" cap="none" strike="noStrik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return “sí”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   else</a:t>
            </a: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return “no”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6868012" y="2090248"/>
            <a:ext cx="1688636" cy="1163547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numero = 10</a:t>
            </a:r>
            <a:br>
              <a:rPr b="0" i="0" lang="es-ES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s-ES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validador_positivos(numero)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7869181" y="2745527"/>
            <a:ext cx="553979" cy="318047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1" y="228601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ES" sz="4000" u="none" cap="none" strike="noStrike">
                <a:solidFill>
                  <a:srgbClr val="FF8F6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#</a:t>
            </a:r>
            <a:r>
              <a:rPr b="0" i="0" lang="es-ES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-ES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Challenge Group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343771" y="1225375"/>
            <a:ext cx="3813850" cy="1190624"/>
          </a:xfrm>
          <a:prstGeom prst="roundRect">
            <a:avLst>
              <a:gd fmla="val 112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Construir un </a:t>
            </a:r>
            <a:r>
              <a:rPr b="1" i="0" lang="es-E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programa</a:t>
            </a:r>
            <a:r>
              <a:rPr b="0" i="0" lang="es-E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para gestionar el inventario de una tienda. 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4587271" y="1346200"/>
            <a:ext cx="4277100" cy="3312568"/>
          </a:xfrm>
          <a:prstGeom prst="roundRect">
            <a:avLst>
              <a:gd fmla="val 909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¿Qué usaremos?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&lt;/&gt;</a:t>
            </a:r>
            <a:r>
              <a:rPr b="1" i="0" lang="es-E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Diccionario: </a:t>
            </a:r>
            <a:r>
              <a:rPr b="0" i="0" lang="es-ES" sz="12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almacenar </a:t>
            </a:r>
            <a:r>
              <a:rPr lang="es-ES" sz="1200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productos,</a:t>
            </a:r>
            <a:r>
              <a:rPr b="0" i="0" lang="es-ES" sz="12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 sus  	cantidades y las ventas realizadas.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0" i="0" lang="es-ES" sz="5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s-ES" sz="12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&lt;/&gt;</a:t>
            </a:r>
            <a:r>
              <a:rPr b="0" i="0" lang="es-ES" sz="12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s-E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Bucles:</a:t>
            </a:r>
            <a:r>
              <a:rPr b="0" i="0" lang="es-E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	</a:t>
            </a:r>
            <a:r>
              <a:rPr b="0" i="0" lang="es-ES" sz="12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actualizar </a:t>
            </a:r>
            <a:r>
              <a:rPr lang="es-ES" sz="1200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información</a:t>
            </a:r>
            <a:r>
              <a:rPr b="0" i="0" lang="es-ES" sz="12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 de los productos.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FF8F6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&lt;/&gt; </a:t>
            </a:r>
            <a:r>
              <a:rPr b="1" i="0" lang="es-E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Sentencia Condicional:</a:t>
            </a:r>
            <a:r>
              <a:rPr b="0" i="0" lang="es-E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s-ES" sz="12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verificar los niveles de stock y proporcionar advertencias.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b="0" i="0" lang="es-ES" sz="12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&lt;/&gt;</a:t>
            </a:r>
            <a:r>
              <a:rPr b="0" i="0" lang="es-ES" sz="12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s-E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Funciones: </a:t>
            </a:r>
            <a:r>
              <a:rPr b="0" i="0" lang="es-ES" sz="1200" u="none" cap="none" strike="noStrike">
                <a:solidFill>
                  <a:srgbClr val="FF8F60"/>
                </a:solidFill>
                <a:latin typeface="Inter"/>
                <a:ea typeface="Inter"/>
                <a:cs typeface="Inter"/>
                <a:sym typeface="Inter"/>
              </a:rPr>
              <a:t>organizar el código y realizar cálculos 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1479588" y="2656432"/>
            <a:ext cx="1542218" cy="2062093"/>
          </a:xfrm>
          <a:custGeom>
            <a:rect b="b" l="l" r="r" t="t"/>
            <a:pathLst>
              <a:path extrusionOk="0" h="4114800" w="3163253">
                <a:moveTo>
                  <a:pt x="0" y="0"/>
                </a:moveTo>
                <a:lnTo>
                  <a:pt x="3163253" y="0"/>
                </a:lnTo>
                <a:lnTo>
                  <a:pt x="316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8" name="Google Shape;15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293638" y="2855558"/>
            <a:ext cx="1914117" cy="91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/>
          <p:nvPr/>
        </p:nvSpPr>
        <p:spPr>
          <a:xfrm>
            <a:off x="9948042" y="4307045"/>
            <a:ext cx="295845" cy="411480"/>
          </a:xfrm>
          <a:custGeom>
            <a:rect b="b" l="l" r="r" t="t"/>
            <a:pathLst>
              <a:path extrusionOk="0" h="4114800" w="2664333">
                <a:moveTo>
                  <a:pt x="0" y="0"/>
                </a:moveTo>
                <a:lnTo>
                  <a:pt x="2664332" y="0"/>
                </a:lnTo>
                <a:lnTo>
                  <a:pt x="26643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8680" cy="19175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/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ES" sz="4000" u="none" cap="none" strike="noStrike">
                <a:solidFill>
                  <a:srgbClr val="F2F1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¿Preguntas?</a:t>
            </a:r>
            <a:endParaRPr b="0" i="0" sz="4000" u="none" cap="none" strike="noStrike">
              <a:solidFill>
                <a:srgbClr val="F2F1EE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139800" y="2298300"/>
            <a:ext cx="60534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2F1EE"/>
                </a:solidFill>
                <a:latin typeface="Inter"/>
                <a:ea typeface="Inter"/>
                <a:cs typeface="Inter"/>
                <a:sym typeface="Inter"/>
              </a:rPr>
              <a:t>Estoy aquí para ayudarles. No duden en contactarme si tienen alguna duda o inquietud.</a:t>
            </a:r>
            <a:endParaRPr b="0" i="0" sz="2000" u="none" cap="none" strike="noStrike">
              <a:solidFill>
                <a:srgbClr val="F2F1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7" name="Google Shape;1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1131575"/>
            <a:ext cx="6401751" cy="25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ctrTitle"/>
          </p:nvPr>
        </p:nvSpPr>
        <p:spPr>
          <a:xfrm>
            <a:off x="311688" y="17406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¡Gracias      por acompañarnos!</a:t>
            </a:r>
            <a:endParaRPr b="0" i="0" sz="48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5383" y="1957825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8613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>
            <a:off x="1772400" y="4267150"/>
            <a:ext cx="5599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Les deseo lo mejor en su viaje de aprendizaje de Python. </a:t>
            </a:r>
            <a:br>
              <a:rPr b="0" i="0" lang="es-ES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s-ES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¡Que esta sea la puerta de entrada a un mundo de posibilidades!</a:t>
            </a:r>
            <a:endParaRPr b="0" i="0" sz="14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