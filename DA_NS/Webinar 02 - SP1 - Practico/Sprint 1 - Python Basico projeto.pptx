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</p:sldIdLst>
  <p:sldSz cy="5143500" cx="9144000"/>
  <p:notesSz cx="6858000" cy="9144000"/>
  <p:embeddedFontLst>
    <p:embeddedFont>
      <p:font typeface="Inter"/>
      <p:regular r:id="rId12"/>
      <p:bold r:id="rId13"/>
      <p:italic r:id="rId14"/>
      <p:boldItalic r:id="rId15"/>
    </p:embeddedFont>
    <p:embeddedFont>
      <p:font typeface="Inter ExtraBold"/>
      <p:bold r:id="rId16"/>
      <p:boldItalic r:id="rId1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3096">
          <p15:clr>
            <a:srgbClr val="747775"/>
          </p15:clr>
        </p15:guide>
        <p15:guide id="2" orient="horz" pos="1800">
          <p15:clr>
            <a:srgbClr val="747775"/>
          </p15:clr>
        </p15:guide>
        <p15:guide id="3" orient="horz" pos="2044">
          <p15:clr>
            <a:srgbClr val="747775"/>
          </p15:clr>
        </p15:guide>
        <p15:guide id="4" pos="5616">
          <p15:clr>
            <a:srgbClr val="747775"/>
          </p15:clr>
        </p15:guide>
        <p15:guide id="5" pos="144">
          <p15:clr>
            <a:srgbClr val="747775"/>
          </p15:clr>
        </p15:guide>
        <p15:guide id="6" pos="2022">
          <p15:clr>
            <a:srgbClr val="747775"/>
          </p15:clr>
        </p15:guide>
        <p15:guide id="7" pos="3901">
          <p15:clr>
            <a:srgbClr val="747775"/>
          </p15:clr>
        </p15:guide>
        <p15:guide id="8" orient="horz" pos="939">
          <p15:clr>
            <a:srgbClr val="747775"/>
          </p15:clr>
        </p15:guide>
        <p15:guide id="9" pos="240">
          <p15:clr>
            <a:srgbClr val="747775"/>
          </p15:clr>
        </p15:guide>
      </p15:sldGuideLst>
    </p:ext>
    <p:ext uri="GoogleSlidesCustomDataVersion2">
      <go:slidesCustomData xmlns:go="http://customooxmlschemas.google.com/" r:id="rId18" roundtripDataSignature="AMtx7mhUL4EY2cb3//sIpnVgH8BpP6Zvm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3096" orient="horz"/>
        <p:guide pos="1800" orient="horz"/>
        <p:guide pos="2044" orient="horz"/>
        <p:guide pos="5616"/>
        <p:guide pos="144"/>
        <p:guide pos="2022"/>
        <p:guide pos="3901"/>
        <p:guide pos="939" orient="horz"/>
        <p:guide pos="24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font" Target="fonts/Inter-bold.fntdata"/><Relationship Id="rId12" Type="http://schemas.openxmlformats.org/officeDocument/2006/relationships/font" Target="fonts/Inter-regular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Inter-boldItalic.fntdata"/><Relationship Id="rId14" Type="http://schemas.openxmlformats.org/officeDocument/2006/relationships/font" Target="fonts/Inter-italic.fntdata"/><Relationship Id="rId17" Type="http://schemas.openxmlformats.org/officeDocument/2006/relationships/font" Target="fonts/InterExtraBold-boldItalic.fntdata"/><Relationship Id="rId16" Type="http://schemas.openxmlformats.org/officeDocument/2006/relationships/font" Target="fonts/InterExtraBold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18" Type="http://customschemas.google.com/relationships/presentationmetadata" Target="meta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" name="Google Shape;3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" name="Google Shape;37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g3440eaf6566_0_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0" name="Google Shape;50;g3440eaf6566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1" name="Google Shape;61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5" name="Google Shape;75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3" name="Google Shape;83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7" name="Shape 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8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am (4 people)" type="secHead">
  <p:cSld name="SECTION_HEADER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5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png"/><Relationship Id="rId4" Type="http://schemas.openxmlformats.org/officeDocument/2006/relationships/image" Target="../media/image15.png"/><Relationship Id="rId5" Type="http://schemas.openxmlformats.org/officeDocument/2006/relationships/image" Target="../media/image7.png"/><Relationship Id="rId6" Type="http://schemas.openxmlformats.org/officeDocument/2006/relationships/image" Target="../media/image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Relationship Id="rId4" Type="http://schemas.openxmlformats.org/officeDocument/2006/relationships/image" Target="../media/image15.png"/><Relationship Id="rId5" Type="http://schemas.openxmlformats.org/officeDocument/2006/relationships/image" Target="../media/image7.png"/><Relationship Id="rId6" Type="http://schemas.openxmlformats.org/officeDocument/2006/relationships/image" Target="../media/image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Relationship Id="rId4" Type="http://schemas.openxmlformats.org/officeDocument/2006/relationships/image" Target="../media/image13.png"/><Relationship Id="rId5" Type="http://schemas.openxmlformats.org/officeDocument/2006/relationships/image" Target="../media/image9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png"/><Relationship Id="rId4" Type="http://schemas.openxmlformats.org/officeDocument/2006/relationships/image" Target="../media/image1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2.png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8F60"/>
        </a:solidFill>
      </p:bgPr>
    </p:bg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1"/>
          <p:cNvSpPr txBox="1"/>
          <p:nvPr>
            <p:ph type="ctrTitle"/>
          </p:nvPr>
        </p:nvSpPr>
        <p:spPr>
          <a:xfrm>
            <a:off x="64001" y="638300"/>
            <a:ext cx="7595100" cy="465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6000">
                <a:solidFill>
                  <a:srgbClr val="1A1A1A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Tu primer proyecto</a:t>
            </a:r>
            <a:endParaRPr b="1" i="0" sz="6000" u="none" cap="none" strike="noStrike">
              <a:solidFill>
                <a:srgbClr val="1A1A1A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i="0" sz="6000" u="none" cap="none" strike="noStrike">
              <a:solidFill>
                <a:srgbClr val="1A1A1A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i="0" sz="6000" u="none" cap="none" strike="noStrike">
              <a:solidFill>
                <a:srgbClr val="1A1A1A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i="0" sz="6000" u="none" cap="none" strike="noStrike">
              <a:solidFill>
                <a:srgbClr val="1A1A1A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¡Bienvenidos</a:t>
            </a:r>
            <a:r>
              <a:rPr lang="en" sz="1800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 a su primer proyecto de Python, una oportunidad emocionante para aplicar las habilidades fundamentales que han aprendido hasta ahora y dar sus primeros pasos como programadores exitosos!</a:t>
            </a:r>
            <a:endParaRPr b="1" i="0" sz="5800" u="none" cap="none" strike="noStrike">
              <a:solidFill>
                <a:srgbClr val="1A1A1A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pic>
        <p:nvPicPr>
          <p:cNvPr id="34" name="Google Shape;34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8600" y="228600"/>
            <a:ext cx="866775" cy="194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2F1EE"/>
        </a:solidFill>
      </p:bgPr>
    </p:bg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" name="Google Shape;39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8600" y="228600"/>
            <a:ext cx="866775" cy="194225"/>
          </a:xfrm>
          <a:prstGeom prst="rect">
            <a:avLst/>
          </a:prstGeom>
          <a:noFill/>
          <a:ln>
            <a:noFill/>
          </a:ln>
        </p:spPr>
      </p:pic>
      <p:sp>
        <p:nvSpPr>
          <p:cNvPr id="40" name="Google Shape;40;p2"/>
          <p:cNvSpPr txBox="1"/>
          <p:nvPr>
            <p:ph type="ctrTitle"/>
          </p:nvPr>
        </p:nvSpPr>
        <p:spPr>
          <a:xfrm>
            <a:off x="96875" y="424975"/>
            <a:ext cx="85206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en" sz="4000" u="none" cap="none" strike="noStrike">
                <a:solidFill>
                  <a:srgbClr val="1A1A1A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Agenda para hoy</a:t>
            </a:r>
            <a:endParaRPr b="1" i="0" sz="4000" u="none" cap="none" strike="noStrike">
              <a:solidFill>
                <a:srgbClr val="1A1A1A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41" name="Google Shape;41;p2"/>
          <p:cNvSpPr/>
          <p:nvPr/>
        </p:nvSpPr>
        <p:spPr>
          <a:xfrm>
            <a:off x="505950" y="1498800"/>
            <a:ext cx="2779800" cy="1121100"/>
          </a:xfrm>
          <a:prstGeom prst="roundRect">
            <a:avLst>
              <a:gd fmla="val 25478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0" lIns="91425" spcFirstLastPara="1" rIns="91425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" sz="16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1. </a:t>
            </a:r>
            <a:r>
              <a:rPr lang="en" sz="1600">
                <a:latin typeface="Inter"/>
                <a:ea typeface="Inter"/>
                <a:cs typeface="Inter"/>
                <a:sym typeface="Inter"/>
              </a:rPr>
              <a:t>Revisando el proyecto</a:t>
            </a:r>
            <a:endParaRPr b="0" i="0" sz="16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2794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Char char="●"/>
            </a:pPr>
            <a:r>
              <a:rPr lang="en" sz="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Completa los ejercicios basados en el proyecto.</a:t>
            </a:r>
            <a:endParaRPr sz="6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279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Char char="●"/>
            </a:pPr>
            <a:r>
              <a:rPr lang="en" sz="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Obtén respuestas a las preguntas relacionadas con el proyecto</a:t>
            </a:r>
            <a:r>
              <a:rPr lang="en" sz="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 sz="8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2" name="Google Shape;42;p2"/>
          <p:cNvSpPr/>
          <p:nvPr/>
        </p:nvSpPr>
        <p:spPr>
          <a:xfrm>
            <a:off x="535100" y="2919833"/>
            <a:ext cx="2779800" cy="721500"/>
          </a:xfrm>
          <a:prstGeom prst="roundRect">
            <a:avLst>
              <a:gd fmla="val 25478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0" lIns="91425" spcFirstLastPara="1" rIns="91425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" sz="16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2. Codificando juntos + Breakout rooms!</a:t>
            </a:r>
            <a:endParaRPr b="0" i="0" sz="16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3" name="Google Shape;43;p2"/>
          <p:cNvSpPr/>
          <p:nvPr/>
        </p:nvSpPr>
        <p:spPr>
          <a:xfrm>
            <a:off x="505950" y="4193650"/>
            <a:ext cx="2779800" cy="721500"/>
          </a:xfrm>
          <a:prstGeom prst="roundRect">
            <a:avLst>
              <a:gd fmla="val 25478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0" lIns="91425" spcFirstLastPara="1" rIns="91425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" sz="16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3. Preguntas</a:t>
            </a:r>
            <a:endParaRPr b="0" i="0" sz="16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44" name="Google Shape;44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572695" y="2220300"/>
            <a:ext cx="2562005" cy="2659324"/>
          </a:xfrm>
          <a:prstGeom prst="rect">
            <a:avLst/>
          </a:prstGeom>
          <a:noFill/>
          <a:ln>
            <a:noFill/>
          </a:ln>
        </p:spPr>
      </p:pic>
      <p:pic>
        <p:nvPicPr>
          <p:cNvPr id="45" name="Google Shape;45;p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 flipH="1">
            <a:off x="3391100" y="1886850"/>
            <a:ext cx="220650" cy="1281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6" name="Google Shape;46;p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57750" y="1886850"/>
            <a:ext cx="220650" cy="1281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7" name="Google Shape;47;p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 flipH="1">
            <a:off x="3361950" y="3307575"/>
            <a:ext cx="220650" cy="1196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2F1EE"/>
        </a:solidFill>
      </p:bgPr>
    </p:bg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" name="Google Shape;52;g3440eaf6566_0_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8600" y="228600"/>
            <a:ext cx="866775" cy="194225"/>
          </a:xfrm>
          <a:prstGeom prst="rect">
            <a:avLst/>
          </a:prstGeom>
          <a:noFill/>
          <a:ln>
            <a:noFill/>
          </a:ln>
        </p:spPr>
      </p:pic>
      <p:sp>
        <p:nvSpPr>
          <p:cNvPr id="53" name="Google Shape;53;g3440eaf6566_0_0"/>
          <p:cNvSpPr txBox="1"/>
          <p:nvPr>
            <p:ph type="ctrTitle"/>
          </p:nvPr>
        </p:nvSpPr>
        <p:spPr>
          <a:xfrm>
            <a:off x="96875" y="424975"/>
            <a:ext cx="85206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" sz="4000">
                <a:solidFill>
                  <a:srgbClr val="1A1A1A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Objetivos</a:t>
            </a:r>
            <a:endParaRPr b="0" i="0" sz="4000" u="none" cap="none" strike="noStrike">
              <a:solidFill>
                <a:srgbClr val="1A1A1A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54" name="Google Shape;54;g3440eaf6566_0_0"/>
          <p:cNvSpPr/>
          <p:nvPr/>
        </p:nvSpPr>
        <p:spPr>
          <a:xfrm>
            <a:off x="505950" y="1498800"/>
            <a:ext cx="4663500" cy="1147800"/>
          </a:xfrm>
          <a:prstGeom prst="roundRect">
            <a:avLst>
              <a:gd fmla="val 25478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0" lIns="91425" spcFirstLastPara="1" rIns="9142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Abrir, enviar y recibir retroalimentación del </a:t>
            </a:r>
            <a:r>
              <a:rPr b="1" lang="en" sz="1100">
                <a:solidFill>
                  <a:schemeClr val="dk1"/>
                </a:solidFill>
              </a:rPr>
              <a:t>Proyecto 1</a:t>
            </a:r>
            <a:r>
              <a:rPr lang="en" sz="1100">
                <a:solidFill>
                  <a:schemeClr val="dk1"/>
                </a:solidFill>
              </a:rPr>
              <a:t>. También entenderán la importancia del feedback como una experiencia real de trabajo.</a:t>
            </a:r>
            <a:endParaRPr sz="8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5" name="Google Shape;55;g3440eaf6566_0_0"/>
          <p:cNvSpPr/>
          <p:nvPr/>
        </p:nvSpPr>
        <p:spPr>
          <a:xfrm>
            <a:off x="535100" y="2919825"/>
            <a:ext cx="4663500" cy="1281300"/>
          </a:xfrm>
          <a:prstGeom prst="roundRect">
            <a:avLst>
              <a:gd fmla="val 25478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0" lIns="91425" spcFirstLastPara="1" rIns="9142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" sz="1100">
                <a:solidFill>
                  <a:schemeClr val="dk1"/>
                </a:solidFill>
              </a:rPr>
              <a:t>Resolver ejercicios en una </a:t>
            </a:r>
            <a:r>
              <a:rPr b="1" lang="en" sz="1100">
                <a:solidFill>
                  <a:schemeClr val="dk1"/>
                </a:solidFill>
              </a:rPr>
              <a:t>sesión de codificación colaborativa o breakout rooms</a:t>
            </a:r>
            <a:r>
              <a:rPr lang="en" sz="1100">
                <a:solidFill>
                  <a:schemeClr val="dk1"/>
                </a:solidFill>
              </a:rPr>
              <a:t>, aprendiendo a </a:t>
            </a:r>
            <a:r>
              <a:rPr b="1" lang="en" sz="1100">
                <a:solidFill>
                  <a:schemeClr val="dk1"/>
                </a:solidFill>
              </a:rPr>
              <a:t>dividir problemas</a:t>
            </a:r>
            <a:r>
              <a:rPr lang="en" sz="1100">
                <a:solidFill>
                  <a:schemeClr val="dk1"/>
                </a:solidFill>
              </a:rPr>
              <a:t> y aplicar conceptos teóricos en la práctica. Al finalizar, habrán completado al menos </a:t>
            </a:r>
            <a:r>
              <a:rPr b="1" lang="en" sz="1100">
                <a:solidFill>
                  <a:schemeClr val="dk1"/>
                </a:solidFill>
              </a:rPr>
              <a:t>dos ejercicios en Colab 🚀</a:t>
            </a:r>
            <a:endParaRPr b="0" i="0" sz="16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56" name="Google Shape;56;g3440eaf6566_0_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572695" y="2220300"/>
            <a:ext cx="2562005" cy="2659324"/>
          </a:xfrm>
          <a:prstGeom prst="rect">
            <a:avLst/>
          </a:prstGeom>
          <a:noFill/>
          <a:ln>
            <a:noFill/>
          </a:ln>
        </p:spPr>
      </p:pic>
      <p:pic>
        <p:nvPicPr>
          <p:cNvPr id="57" name="Google Shape;57;g3440eaf6566_0_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 flipH="1">
            <a:off x="5260750" y="2026175"/>
            <a:ext cx="220650" cy="1281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8" name="Google Shape;58;g3440eaf6566_0_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57750" y="1886850"/>
            <a:ext cx="220650" cy="1281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8F60"/>
        </a:solidFill>
      </p:bgPr>
    </p:bg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" name="Google Shape;63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8600" y="228600"/>
            <a:ext cx="866775" cy="194225"/>
          </a:xfrm>
          <a:prstGeom prst="rect">
            <a:avLst/>
          </a:prstGeom>
          <a:noFill/>
          <a:ln>
            <a:noFill/>
          </a:ln>
        </p:spPr>
      </p:pic>
      <p:sp>
        <p:nvSpPr>
          <p:cNvPr id="64" name="Google Shape;64;p7"/>
          <p:cNvSpPr txBox="1"/>
          <p:nvPr>
            <p:ph type="ctrTitle"/>
          </p:nvPr>
        </p:nvSpPr>
        <p:spPr>
          <a:xfrm>
            <a:off x="96875" y="424975"/>
            <a:ext cx="85206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" sz="4000" u="none" cap="none" strike="noStrike">
                <a:solidFill>
                  <a:srgbClr val="1A1A1A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Codificando juntos</a:t>
            </a:r>
            <a:endParaRPr b="1" i="0" sz="4000" u="none" cap="none" strike="noStrike">
              <a:solidFill>
                <a:srgbClr val="1A1A1A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65" name="Google Shape;65;p7"/>
          <p:cNvSpPr txBox="1"/>
          <p:nvPr/>
        </p:nvSpPr>
        <p:spPr>
          <a:xfrm>
            <a:off x="1121625" y="2373802"/>
            <a:ext cx="3050700" cy="6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" sz="16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¿</a:t>
            </a:r>
            <a:r>
              <a:rPr b="1" lang="en" sz="1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Cómo es</a:t>
            </a:r>
            <a:r>
              <a:rPr b="1" i="0" lang="en" sz="16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 e</a:t>
            </a:r>
            <a:r>
              <a:rPr b="1" lang="en" sz="1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l</a:t>
            </a:r>
            <a:r>
              <a:rPr b="1" i="0" lang="en" sz="16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 proyecto?</a:t>
            </a:r>
            <a:br>
              <a:rPr b="1" i="0" lang="en" sz="16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</a:br>
            <a:endParaRPr b="0" i="0" sz="1200" u="none" cap="none" strike="noStrike">
              <a:solidFill>
                <a:srgbClr val="1A1A1A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6" name="Google Shape;66;p7"/>
          <p:cNvSpPr txBox="1"/>
          <p:nvPr/>
        </p:nvSpPr>
        <p:spPr>
          <a:xfrm>
            <a:off x="1171575" y="3966245"/>
            <a:ext cx="2950800" cy="7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Solucionando ejercicios similares</a:t>
            </a:r>
            <a:endParaRPr b="0" i="0" sz="1200" u="none" cap="none" strike="noStrike">
              <a:solidFill>
                <a:srgbClr val="1A1A1A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67" name="Google Shape;67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71567" y="1717054"/>
            <a:ext cx="645459" cy="645201"/>
          </a:xfrm>
          <a:prstGeom prst="rect">
            <a:avLst/>
          </a:prstGeom>
          <a:noFill/>
          <a:ln>
            <a:noFill/>
          </a:ln>
        </p:spPr>
      </p:pic>
      <p:pic>
        <p:nvPicPr>
          <p:cNvPr id="68" name="Google Shape;68;p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241329" y="3244854"/>
            <a:ext cx="645459" cy="645201"/>
          </a:xfrm>
          <a:prstGeom prst="rect">
            <a:avLst/>
          </a:prstGeom>
          <a:noFill/>
          <a:ln>
            <a:noFill/>
          </a:ln>
        </p:spPr>
      </p:pic>
      <p:sp>
        <p:nvSpPr>
          <p:cNvPr id="69" name="Google Shape;69;p7"/>
          <p:cNvSpPr txBox="1"/>
          <p:nvPr/>
        </p:nvSpPr>
        <p:spPr>
          <a:xfrm>
            <a:off x="4920850" y="2373802"/>
            <a:ext cx="3050700" cy="7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¿Qué haremos en el proyecto?</a:t>
            </a:r>
            <a:endParaRPr b="1" sz="16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0" name="Google Shape;70;p7"/>
          <p:cNvSpPr txBox="1"/>
          <p:nvPr/>
        </p:nvSpPr>
        <p:spPr>
          <a:xfrm>
            <a:off x="4970800" y="3966245"/>
            <a:ext cx="2950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Resolviendo dudas</a:t>
            </a:r>
            <a:endParaRPr b="0" i="0" sz="1200" u="none" cap="none" strike="noStrike">
              <a:solidFill>
                <a:srgbClr val="1A1A1A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71" name="Google Shape;71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970792" y="1717054"/>
            <a:ext cx="645459" cy="645201"/>
          </a:xfrm>
          <a:prstGeom prst="rect">
            <a:avLst/>
          </a:prstGeom>
          <a:noFill/>
          <a:ln>
            <a:noFill/>
          </a:ln>
        </p:spPr>
      </p:pic>
      <p:pic>
        <p:nvPicPr>
          <p:cNvPr id="72" name="Google Shape;72;p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040554" y="3244854"/>
            <a:ext cx="645459" cy="6452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1A1A"/>
        </a:solidFill>
      </p:bgPr>
    </p:bg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7" name="Google Shape;77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8600" y="228600"/>
            <a:ext cx="868680" cy="191756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78;p9"/>
          <p:cNvSpPr txBox="1"/>
          <p:nvPr/>
        </p:nvSpPr>
        <p:spPr>
          <a:xfrm>
            <a:off x="96875" y="424975"/>
            <a:ext cx="85206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en" sz="4000" u="none" cap="none" strike="noStrike">
                <a:solidFill>
                  <a:srgbClr val="F2F1EE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¿Preguntas?</a:t>
            </a:r>
            <a:endParaRPr b="1" i="0" sz="4000" u="none" cap="none" strike="noStrike">
              <a:solidFill>
                <a:srgbClr val="F2F1EE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79" name="Google Shape;79;p9"/>
          <p:cNvSpPr txBox="1"/>
          <p:nvPr/>
        </p:nvSpPr>
        <p:spPr>
          <a:xfrm>
            <a:off x="139800" y="2298300"/>
            <a:ext cx="6053400" cy="2616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" sz="2000" u="none" cap="none" strike="noStrike">
                <a:solidFill>
                  <a:srgbClr val="F2F1EE"/>
                </a:solidFill>
                <a:latin typeface="Inter"/>
                <a:ea typeface="Inter"/>
                <a:cs typeface="Inter"/>
                <a:sym typeface="Inter"/>
              </a:rPr>
              <a:t>Estoy aquí para ayudarles. No duden en contactarme si tienen alguna duda o inquietud.</a:t>
            </a:r>
            <a:endParaRPr b="0" i="0" sz="2000" u="none" cap="none" strike="noStrike">
              <a:solidFill>
                <a:srgbClr val="F2F1EE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80" name="Google Shape;80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97280" y="1131575"/>
            <a:ext cx="6401751" cy="2510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8F60"/>
        </a:solid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0"/>
          <p:cNvSpPr txBox="1"/>
          <p:nvPr>
            <p:ph type="ctrTitle"/>
          </p:nvPr>
        </p:nvSpPr>
        <p:spPr>
          <a:xfrm>
            <a:off x="311688" y="1740600"/>
            <a:ext cx="8520600" cy="166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b="1" i="0" lang="en" sz="4800" u="none" cap="none" strike="noStrike">
                <a:solidFill>
                  <a:srgbClr val="1A1A1A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¡Gracias      por acompañarnos!</a:t>
            </a:r>
            <a:endParaRPr b="1" i="0" sz="4800" u="none" cap="none" strike="noStrike">
              <a:solidFill>
                <a:srgbClr val="1A1A1A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pic>
        <p:nvPicPr>
          <p:cNvPr id="86" name="Google Shape;86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005383" y="1957825"/>
            <a:ext cx="645459" cy="645201"/>
          </a:xfrm>
          <a:prstGeom prst="rect">
            <a:avLst/>
          </a:prstGeom>
          <a:noFill/>
          <a:ln>
            <a:noFill/>
          </a:ln>
        </p:spPr>
      </p:pic>
      <p:pic>
        <p:nvPicPr>
          <p:cNvPr id="87" name="Google Shape;87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138613" y="228600"/>
            <a:ext cx="866775" cy="194225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10"/>
          <p:cNvSpPr txBox="1"/>
          <p:nvPr/>
        </p:nvSpPr>
        <p:spPr>
          <a:xfrm>
            <a:off x="1772400" y="4267150"/>
            <a:ext cx="5599200" cy="64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Les deseo lo mejor en su viaje de aprendizaje de Python. </a:t>
            </a:r>
            <a:br>
              <a:rPr b="0" i="0" lang="en" sz="1400" u="none" cap="none" strike="noStrike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b="0" i="0" lang="en" sz="1400" u="none" cap="none" strike="noStrike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¡Que esta sea la puerta de entrada a un mundo de posibilidades!</a:t>
            </a:r>
            <a:endParaRPr b="0" i="0" sz="1400" u="none" cap="none" strike="noStrike">
              <a:solidFill>
                <a:srgbClr val="1A1A1A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Juan Sebastian Araujo</dc:creator>
</cp:coreProperties>
</file>