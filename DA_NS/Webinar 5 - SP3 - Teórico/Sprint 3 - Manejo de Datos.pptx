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nter"/>
      <p:regular r:id="rId13"/>
      <p:bold r:id="rId14"/>
      <p:italic r:id="rId15"/>
      <p:boldItalic r:id="rId16"/>
    </p:embeddedFont>
    <p:embeddedFont>
      <p:font typeface="Inter ExtraBold"/>
      <p:bold r:id="rId17"/>
      <p:boldItalic r:id="rId18"/>
    </p:embeddedFont>
    <p:embeddedFont>
      <p:font typeface="Inter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96">
          <p15:clr>
            <a:srgbClr val="747775"/>
          </p15:clr>
        </p15:guide>
        <p15:guide id="2" orient="horz" pos="1800">
          <p15:clr>
            <a:srgbClr val="747775"/>
          </p15:clr>
        </p15:guide>
        <p15:guide id="3" orient="horz" pos="2044">
          <p15:clr>
            <a:srgbClr val="747775"/>
          </p15:clr>
        </p15:guide>
        <p15:guide id="4" pos="5616">
          <p15:clr>
            <a:srgbClr val="747775"/>
          </p15:clr>
        </p15:guide>
        <p15:guide id="5" pos="144">
          <p15:clr>
            <a:srgbClr val="747775"/>
          </p15:clr>
        </p15:guide>
        <p15:guide id="6" pos="2022">
          <p15:clr>
            <a:srgbClr val="747775"/>
          </p15:clr>
        </p15:guide>
        <p15:guide id="7" pos="3901">
          <p15:clr>
            <a:srgbClr val="747775"/>
          </p15:clr>
        </p15:guide>
        <p15:guide id="8" orient="horz" pos="939">
          <p15:clr>
            <a:srgbClr val="747775"/>
          </p15:clr>
        </p15:guide>
        <p15:guide id="9" pos="240">
          <p15:clr>
            <a:srgbClr val="747775"/>
          </p15:clr>
        </p15:guide>
      </p15:sldGuideLst>
    </p:ext>
    <p:ext uri="GoogleSlidesCustomDataVersion2">
      <go:slidesCustomData xmlns:go="http://customooxmlschemas.google.com/" r:id="rId23" roundtripDataSignature="AMtx7mjLJS/XmMya1Pi7X3C+AKbjMzDT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96" orient="horz"/>
        <p:guide pos="1800" orient="horz"/>
        <p:guide pos="2044" orient="horz"/>
        <p:guide pos="5616"/>
        <p:guide pos="144"/>
        <p:guide pos="2022"/>
        <p:guide pos="3901"/>
        <p:guide pos="939" orient="horz"/>
        <p:guide pos="2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bold.fntdata"/><Relationship Id="rId11" Type="http://schemas.openxmlformats.org/officeDocument/2006/relationships/slide" Target="slides/slide6.xml"/><Relationship Id="rId22" Type="http://schemas.openxmlformats.org/officeDocument/2006/relationships/font" Target="fonts/InterMedium-boldItalic.fntdata"/><Relationship Id="rId10" Type="http://schemas.openxmlformats.org/officeDocument/2006/relationships/slide" Target="slides/slide5.xml"/><Relationship Id="rId21" Type="http://schemas.openxmlformats.org/officeDocument/2006/relationships/font" Target="fonts/InterMedium-italic.fntdata"/><Relationship Id="rId13" Type="http://schemas.openxmlformats.org/officeDocument/2006/relationships/font" Target="fonts/Inter-regular.fntdata"/><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7" Type="http://schemas.openxmlformats.org/officeDocument/2006/relationships/font" Target="fonts/InterExtraBold-bold.fntdata"/><Relationship Id="rId16" Type="http://schemas.openxmlformats.org/officeDocument/2006/relationships/font" Target="fonts/Inter-boldItalic.fntdata"/><Relationship Id="rId5" Type="http://schemas.openxmlformats.org/officeDocument/2006/relationships/notesMaster" Target="notesMasters/notesMaster1.xml"/><Relationship Id="rId19" Type="http://schemas.openxmlformats.org/officeDocument/2006/relationships/font" Target="fonts/InterMedium-regular.fntdata"/><Relationship Id="rId6" Type="http://schemas.openxmlformats.org/officeDocument/2006/relationships/slide" Target="slides/slide1.xml"/><Relationship Id="rId18" Type="http://schemas.openxmlformats.org/officeDocument/2006/relationships/font" Target="fonts/InterExtraBold-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 name="Google Shape;3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 name="Google Shape;3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11" name="Shape 1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 name="Shape 18"/>
        <p:cNvGrpSpPr/>
        <p:nvPr/>
      </p:nvGrpSpPr>
      <p:grpSpPr>
        <a:xfrm>
          <a:off x="0" y="0"/>
          <a:ext cx="0" cy="0"/>
          <a:chOff x="0" y="0"/>
          <a:chExt cx="0" cy="0"/>
        </a:xfrm>
      </p:grpSpPr>
      <p:sp>
        <p:nvSpPr>
          <p:cNvPr id="19" name="Google Shape;1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 name="Shape 20"/>
        <p:cNvGrpSpPr/>
        <p:nvPr/>
      </p:nvGrpSpPr>
      <p:grpSpPr>
        <a:xfrm>
          <a:off x="0" y="0"/>
          <a:ext cx="0" cy="0"/>
          <a:chOff x="0" y="0"/>
          <a:chExt cx="0" cy="0"/>
        </a:xfrm>
      </p:grpSpPr>
      <p:sp>
        <p:nvSpPr>
          <p:cNvPr id="21" name="Google Shape;21;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2" name="Shape 22"/>
        <p:cNvGrpSpPr/>
        <p:nvPr/>
      </p:nvGrpSpPr>
      <p:grpSpPr>
        <a:xfrm>
          <a:off x="0" y="0"/>
          <a:ext cx="0" cy="0"/>
          <a:chOff x="0" y="0"/>
          <a:chExt cx="0" cy="0"/>
        </a:xfrm>
      </p:grpSpPr>
      <p:sp>
        <p:nvSpPr>
          <p:cNvPr id="23" name="Google Shape;2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 name="Shape 26"/>
        <p:cNvGrpSpPr/>
        <p:nvPr/>
      </p:nvGrpSpPr>
      <p:grpSpPr>
        <a:xfrm>
          <a:off x="0" y="0"/>
          <a:ext cx="0" cy="0"/>
          <a:chOff x="0" y="0"/>
          <a:chExt cx="0" cy="0"/>
        </a:xfrm>
      </p:grpSpPr>
      <p:sp>
        <p:nvSpPr>
          <p:cNvPr id="27" name="Google Shape;2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8"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32" name="Shape 32"/>
        <p:cNvGrpSpPr/>
        <p:nvPr/>
      </p:nvGrpSpPr>
      <p:grpSpPr>
        <a:xfrm>
          <a:off x="0" y="0"/>
          <a:ext cx="0" cy="0"/>
          <a:chOff x="0" y="0"/>
          <a:chExt cx="0" cy="0"/>
        </a:xfrm>
      </p:grpSpPr>
      <p:sp>
        <p:nvSpPr>
          <p:cNvPr id="33" name="Google Shape;33;p1"/>
          <p:cNvSpPr txBox="1"/>
          <p:nvPr>
            <p:ph type="ctrTitle"/>
          </p:nvPr>
        </p:nvSpPr>
        <p:spPr>
          <a:xfrm>
            <a:off x="64001" y="638300"/>
            <a:ext cx="7595100" cy="4238100"/>
          </a:xfrm>
          <a:prstGeom prst="rect">
            <a:avLst/>
          </a:prstGeom>
          <a:noFill/>
          <a:ln>
            <a:noFill/>
          </a:ln>
        </p:spPr>
        <p:txBody>
          <a:bodyPr anchorCtr="0" anchor="t" bIns="91425" lIns="91425" spcFirstLastPara="1" rIns="91425" wrap="square" tIns="0">
            <a:spAutoFit/>
          </a:bodyPr>
          <a:lstStyle/>
          <a:p>
            <a:pPr indent="0" lvl="0" marL="0" marR="0" rtl="0" algn="l">
              <a:lnSpc>
                <a:spcPct val="90000"/>
              </a:lnSpc>
              <a:spcBef>
                <a:spcPts val="0"/>
              </a:spcBef>
              <a:spcAft>
                <a:spcPts val="0"/>
              </a:spcAft>
              <a:buClr>
                <a:schemeClr val="dk1"/>
              </a:buClr>
              <a:buSzPts val="1100"/>
              <a:buFont typeface="Arial"/>
              <a:buNone/>
            </a:pPr>
            <a:r>
              <a:rPr lang="en" sz="5000">
                <a:solidFill>
                  <a:srgbClr val="1A1A1A"/>
                </a:solidFill>
                <a:latin typeface="Inter ExtraBold"/>
                <a:ea typeface="Inter ExtraBold"/>
                <a:cs typeface="Inter ExtraBold"/>
                <a:sym typeface="Inter ExtraBold"/>
              </a:rPr>
              <a:t>Manipulación de Datos</a:t>
            </a:r>
            <a:endParaRPr b="0" i="0" sz="5000" u="none" cap="none" strike="noStrike">
              <a:solidFill>
                <a:srgbClr val="1A1A1A"/>
              </a:solidFill>
              <a:latin typeface="Inter ExtraBold"/>
              <a:ea typeface="Inter ExtraBold"/>
              <a:cs typeface="Inter ExtraBold"/>
              <a:sym typeface="Inter ExtraBold"/>
            </a:endParaRPr>
          </a:p>
          <a:p>
            <a:pPr indent="0" lvl="0" marL="0" marR="0" rtl="0" algn="l">
              <a:lnSpc>
                <a:spcPct val="90000"/>
              </a:lnSpc>
              <a:spcBef>
                <a:spcPts val="0"/>
              </a:spcBef>
              <a:spcAft>
                <a:spcPts val="0"/>
              </a:spcAft>
              <a:buClr>
                <a:schemeClr val="dk1"/>
              </a:buClr>
              <a:buSzPts val="1100"/>
              <a:buFont typeface="Arial"/>
              <a:buNone/>
            </a:pPr>
            <a:r>
              <a:t/>
            </a:r>
            <a:endParaRPr b="0" i="0" sz="6000" u="none" cap="none" strike="noStrike">
              <a:solidFill>
                <a:srgbClr val="1A1A1A"/>
              </a:solidFill>
              <a:latin typeface="Inter ExtraBold"/>
              <a:ea typeface="Inter ExtraBold"/>
              <a:cs typeface="Inter ExtraBold"/>
              <a:sym typeface="Inter ExtraBold"/>
            </a:endParaRPr>
          </a:p>
          <a:p>
            <a:pPr indent="0" lvl="0" marL="0" marR="0" rtl="0" algn="l">
              <a:lnSpc>
                <a:spcPct val="90000"/>
              </a:lnSpc>
              <a:spcBef>
                <a:spcPts val="0"/>
              </a:spcBef>
              <a:spcAft>
                <a:spcPts val="0"/>
              </a:spcAft>
              <a:buClr>
                <a:schemeClr val="dk1"/>
              </a:buClr>
              <a:buSzPts val="1100"/>
              <a:buFont typeface="Arial"/>
              <a:buNone/>
            </a:pPr>
            <a:r>
              <a:t/>
            </a:r>
            <a:endParaRPr b="0" i="0" sz="6000" u="none" cap="none" strike="noStrike">
              <a:solidFill>
                <a:srgbClr val="1A1A1A"/>
              </a:solidFill>
              <a:latin typeface="Inter ExtraBold"/>
              <a:ea typeface="Inter ExtraBold"/>
              <a:cs typeface="Inter ExtraBold"/>
              <a:sym typeface="Inter ExtraBold"/>
            </a:endParaRPr>
          </a:p>
          <a:p>
            <a:pPr indent="0" lvl="0" marL="0" marR="0" rtl="0" algn="l">
              <a:lnSpc>
                <a:spcPct val="90000"/>
              </a:lnSpc>
              <a:spcBef>
                <a:spcPts val="0"/>
              </a:spcBef>
              <a:spcAft>
                <a:spcPts val="0"/>
              </a:spcAft>
              <a:buClr>
                <a:schemeClr val="dk1"/>
              </a:buClr>
              <a:buSzPts val="1100"/>
              <a:buFont typeface="Arial"/>
              <a:buNone/>
            </a:pPr>
            <a:r>
              <a:t/>
            </a:r>
            <a:endParaRPr b="0" i="0" sz="6000" u="none" cap="none" strike="noStrike">
              <a:solidFill>
                <a:srgbClr val="1A1A1A"/>
              </a:solidFill>
              <a:latin typeface="Inter ExtraBold"/>
              <a:ea typeface="Inter ExtraBold"/>
              <a:cs typeface="Inter ExtraBold"/>
              <a:sym typeface="Inter ExtraBold"/>
            </a:endParaRPr>
          </a:p>
          <a:p>
            <a:pPr indent="0" lvl="0" marL="0" marR="0" rtl="0" algn="l">
              <a:lnSpc>
                <a:spcPct val="100000"/>
              </a:lnSpc>
              <a:spcBef>
                <a:spcPts val="1000"/>
              </a:spcBef>
              <a:spcAft>
                <a:spcPts val="0"/>
              </a:spcAft>
              <a:buClr>
                <a:schemeClr val="dk1"/>
              </a:buClr>
              <a:buSzPts val="1100"/>
              <a:buFont typeface="Arial"/>
              <a:buNone/>
            </a:pPr>
            <a:r>
              <a:rPr b="0" i="0" lang="en" sz="1800" u="none" cap="none" strike="noStrike">
                <a:solidFill>
                  <a:srgbClr val="1A1A1A"/>
                </a:solidFill>
                <a:latin typeface="Inter"/>
                <a:ea typeface="Inter"/>
                <a:cs typeface="Inter"/>
                <a:sym typeface="Inter"/>
              </a:rPr>
              <a:t>Bienvenidos a este emocionante curso de Python, donde aprenderán las habilidades fundamentales para convertirse en programadores exitosos</a:t>
            </a:r>
            <a:endParaRPr b="0" i="0" sz="5800" u="none" cap="none" strike="noStrike">
              <a:solidFill>
                <a:srgbClr val="1A1A1A"/>
              </a:solidFill>
              <a:latin typeface="Inter ExtraBold"/>
              <a:ea typeface="Inter ExtraBold"/>
              <a:cs typeface="Inter ExtraBold"/>
              <a:sym typeface="Inter ExtraBold"/>
            </a:endParaRPr>
          </a:p>
        </p:txBody>
      </p:sp>
      <p:pic>
        <p:nvPicPr>
          <p:cNvPr id="34" name="Google Shape;34;p1"/>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38" name="Shape 38"/>
        <p:cNvGrpSpPr/>
        <p:nvPr/>
      </p:nvGrpSpPr>
      <p:grpSpPr>
        <a:xfrm>
          <a:off x="0" y="0"/>
          <a:ext cx="0" cy="0"/>
          <a:chOff x="0" y="0"/>
          <a:chExt cx="0" cy="0"/>
        </a:xfrm>
      </p:grpSpPr>
      <p:pic>
        <p:nvPicPr>
          <p:cNvPr id="39" name="Google Shape;39;p2"/>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40" name="Google Shape;40;p2"/>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1A1A1A"/>
                </a:solidFill>
                <a:latin typeface="Inter ExtraBold"/>
                <a:ea typeface="Inter ExtraBold"/>
                <a:cs typeface="Inter ExtraBold"/>
                <a:sym typeface="Inter ExtraBold"/>
              </a:rPr>
              <a:t>Agenda para hoy</a:t>
            </a:r>
            <a:endParaRPr b="0" i="0" sz="4000" u="none" cap="none" strike="noStrike">
              <a:solidFill>
                <a:srgbClr val="1A1A1A"/>
              </a:solidFill>
              <a:latin typeface="Inter ExtraBold"/>
              <a:ea typeface="Inter ExtraBold"/>
              <a:cs typeface="Inter ExtraBold"/>
              <a:sym typeface="Inter ExtraBold"/>
            </a:endParaRPr>
          </a:p>
        </p:txBody>
      </p:sp>
      <p:sp>
        <p:nvSpPr>
          <p:cNvPr id="41" name="Google Shape;41;p2"/>
          <p:cNvSpPr/>
          <p:nvPr/>
        </p:nvSpPr>
        <p:spPr>
          <a:xfrm>
            <a:off x="505950" y="1498800"/>
            <a:ext cx="2779800" cy="721500"/>
          </a:xfrm>
          <a:prstGeom prst="roundRect">
            <a:avLst>
              <a:gd fmla="val 25478" name="adj"/>
            </a:avLst>
          </a:prstGeom>
          <a:solidFill>
            <a:srgbClr val="FFFFF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Inter"/>
                <a:ea typeface="Inter"/>
                <a:cs typeface="Inter"/>
                <a:sym typeface="Inter"/>
              </a:rPr>
              <a:t>1. Revisión de teoría</a:t>
            </a:r>
            <a:endParaRPr b="0" i="0" sz="1600" u="none" cap="none" strike="noStrike">
              <a:solidFill>
                <a:srgbClr val="000000"/>
              </a:solidFill>
              <a:latin typeface="Inter"/>
              <a:ea typeface="Inter"/>
              <a:cs typeface="Inter"/>
              <a:sym typeface="Inter"/>
            </a:endParaRPr>
          </a:p>
          <a:p>
            <a:pPr indent="-279400" lvl="0" marL="457200" marR="0" rtl="0" algn="l">
              <a:lnSpc>
                <a:spcPct val="100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Manejo de Datos</a:t>
            </a:r>
            <a:endParaRPr b="0" i="0" sz="800" u="none" cap="none" strike="noStrike">
              <a:solidFill>
                <a:schemeClr val="dk1"/>
              </a:solidFill>
              <a:latin typeface="Inter"/>
              <a:ea typeface="Inter"/>
              <a:cs typeface="Inter"/>
              <a:sym typeface="Inter"/>
            </a:endParaRPr>
          </a:p>
          <a:p>
            <a:pPr indent="-279400" lvl="0" marL="457200" marR="0" rtl="0" algn="l">
              <a:lnSpc>
                <a:spcPct val="100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Datos, variables, errores</a:t>
            </a:r>
            <a:endParaRPr b="0" i="0" sz="800" u="none" cap="none" strike="noStrike">
              <a:solidFill>
                <a:schemeClr val="dk1"/>
              </a:solidFill>
              <a:latin typeface="Inter"/>
              <a:ea typeface="Inter"/>
              <a:cs typeface="Inter"/>
              <a:sym typeface="Inter"/>
            </a:endParaRPr>
          </a:p>
          <a:p>
            <a:pPr indent="-279400" lvl="0" marL="457200" marR="0" rtl="0" algn="l">
              <a:lnSpc>
                <a:spcPct val="100000"/>
              </a:lnSpc>
              <a:spcBef>
                <a:spcPts val="0"/>
              </a:spcBef>
              <a:spcAft>
                <a:spcPts val="0"/>
              </a:spcAft>
              <a:buClr>
                <a:schemeClr val="dk1"/>
              </a:buClr>
              <a:buSzPts val="800"/>
              <a:buFont typeface="Inter"/>
              <a:buChar char="●"/>
            </a:pPr>
            <a:r>
              <a:rPr lang="en" sz="800">
                <a:solidFill>
                  <a:schemeClr val="dk1"/>
                </a:solidFill>
                <a:latin typeface="Inter"/>
                <a:ea typeface="Inter"/>
                <a:cs typeface="Inter"/>
                <a:sym typeface="Inter"/>
              </a:rPr>
              <a:t>Creación de nuevas variables</a:t>
            </a:r>
            <a:endParaRPr b="0" i="0" sz="800" u="none" cap="none" strike="noStrike">
              <a:solidFill>
                <a:schemeClr val="dk1"/>
              </a:solidFill>
              <a:latin typeface="Inter"/>
              <a:ea typeface="Inter"/>
              <a:cs typeface="Inter"/>
              <a:sym typeface="Inter"/>
            </a:endParaRPr>
          </a:p>
        </p:txBody>
      </p:sp>
      <p:sp>
        <p:nvSpPr>
          <p:cNvPr id="42" name="Google Shape;42;p2"/>
          <p:cNvSpPr/>
          <p:nvPr/>
        </p:nvSpPr>
        <p:spPr>
          <a:xfrm>
            <a:off x="496200" y="2869033"/>
            <a:ext cx="2779800" cy="721500"/>
          </a:xfrm>
          <a:prstGeom prst="roundRect">
            <a:avLst>
              <a:gd fmla="val 25478" name="adj"/>
            </a:avLst>
          </a:prstGeom>
          <a:solidFill>
            <a:srgbClr val="FFFFF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Inter"/>
                <a:ea typeface="Inter"/>
                <a:cs typeface="Inter"/>
                <a:sym typeface="Inter"/>
              </a:rPr>
              <a:t>2. Codificando juntos</a:t>
            </a:r>
            <a:endParaRPr b="0" i="0" sz="1600" u="none" cap="none" strike="noStrike">
              <a:solidFill>
                <a:srgbClr val="000000"/>
              </a:solidFill>
              <a:latin typeface="Inter"/>
              <a:ea typeface="Inter"/>
              <a:cs typeface="Inter"/>
              <a:sym typeface="Inter"/>
            </a:endParaRPr>
          </a:p>
        </p:txBody>
      </p:sp>
      <p:sp>
        <p:nvSpPr>
          <p:cNvPr id="43" name="Google Shape;43;p2"/>
          <p:cNvSpPr/>
          <p:nvPr/>
        </p:nvSpPr>
        <p:spPr>
          <a:xfrm>
            <a:off x="505950" y="4193650"/>
            <a:ext cx="2779800" cy="721500"/>
          </a:xfrm>
          <a:prstGeom prst="roundRect">
            <a:avLst>
              <a:gd fmla="val 25478" name="adj"/>
            </a:avLst>
          </a:prstGeom>
          <a:solidFill>
            <a:srgbClr val="FFFFFF"/>
          </a:solid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Inter"/>
                <a:ea typeface="Inter"/>
                <a:cs typeface="Inter"/>
                <a:sym typeface="Inter"/>
              </a:rPr>
              <a:t>4. Preguntas</a:t>
            </a:r>
            <a:endParaRPr b="0" i="0" sz="1600" u="none" cap="none" strike="noStrike">
              <a:solidFill>
                <a:srgbClr val="000000"/>
              </a:solidFill>
              <a:latin typeface="Inter"/>
              <a:ea typeface="Inter"/>
              <a:cs typeface="Inter"/>
              <a:sym typeface="Inter"/>
            </a:endParaRPr>
          </a:p>
        </p:txBody>
      </p:sp>
      <p:pic>
        <p:nvPicPr>
          <p:cNvPr id="44" name="Google Shape;44;p2"/>
          <p:cNvPicPr preferRelativeResize="0"/>
          <p:nvPr/>
        </p:nvPicPr>
        <p:blipFill rotWithShape="1">
          <a:blip r:embed="rId4">
            <a:alphaModFix/>
          </a:blip>
          <a:srcRect b="0" l="0" r="0" t="0"/>
          <a:stretch/>
        </p:blipFill>
        <p:spPr>
          <a:xfrm>
            <a:off x="5572695" y="2220300"/>
            <a:ext cx="2562005" cy="2659324"/>
          </a:xfrm>
          <a:prstGeom prst="rect">
            <a:avLst/>
          </a:prstGeom>
          <a:noFill/>
          <a:ln>
            <a:noFill/>
          </a:ln>
        </p:spPr>
      </p:pic>
      <p:pic>
        <p:nvPicPr>
          <p:cNvPr id="45" name="Google Shape;45;p2"/>
          <p:cNvPicPr preferRelativeResize="0"/>
          <p:nvPr/>
        </p:nvPicPr>
        <p:blipFill rotWithShape="1">
          <a:blip r:embed="rId5">
            <a:alphaModFix/>
          </a:blip>
          <a:srcRect b="0" l="0" r="0" t="0"/>
          <a:stretch/>
        </p:blipFill>
        <p:spPr>
          <a:xfrm flipH="1">
            <a:off x="3352200" y="1996200"/>
            <a:ext cx="220650" cy="1121250"/>
          </a:xfrm>
          <a:prstGeom prst="rect">
            <a:avLst/>
          </a:prstGeom>
          <a:noFill/>
          <a:ln>
            <a:noFill/>
          </a:ln>
        </p:spPr>
      </p:pic>
      <p:pic>
        <p:nvPicPr>
          <p:cNvPr id="46" name="Google Shape;46;p2"/>
          <p:cNvPicPr preferRelativeResize="0"/>
          <p:nvPr/>
        </p:nvPicPr>
        <p:blipFill rotWithShape="1">
          <a:blip r:embed="rId6">
            <a:alphaModFix/>
          </a:blip>
          <a:srcRect b="0" l="0" r="0" t="0"/>
          <a:stretch/>
        </p:blipFill>
        <p:spPr>
          <a:xfrm>
            <a:off x="218850" y="1943600"/>
            <a:ext cx="220650" cy="1173850"/>
          </a:xfrm>
          <a:prstGeom prst="rect">
            <a:avLst/>
          </a:prstGeom>
          <a:noFill/>
          <a:ln>
            <a:noFill/>
          </a:ln>
        </p:spPr>
      </p:pic>
      <p:pic>
        <p:nvPicPr>
          <p:cNvPr id="47" name="Google Shape;47;p2"/>
          <p:cNvPicPr preferRelativeResize="0"/>
          <p:nvPr/>
        </p:nvPicPr>
        <p:blipFill rotWithShape="1">
          <a:blip r:embed="rId5">
            <a:alphaModFix/>
          </a:blip>
          <a:srcRect b="0" l="0" r="0" t="0"/>
          <a:stretch/>
        </p:blipFill>
        <p:spPr>
          <a:xfrm flipH="1">
            <a:off x="3352200" y="3372241"/>
            <a:ext cx="220650" cy="11738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1EE"/>
        </a:solidFill>
      </p:bgPr>
    </p:bg>
    <p:spTree>
      <p:nvGrpSpPr>
        <p:cNvPr id="51" name="Shape 51"/>
        <p:cNvGrpSpPr/>
        <p:nvPr/>
      </p:nvGrpSpPr>
      <p:grpSpPr>
        <a:xfrm>
          <a:off x="0" y="0"/>
          <a:ext cx="0" cy="0"/>
          <a:chOff x="0" y="0"/>
          <a:chExt cx="0" cy="0"/>
        </a:xfrm>
      </p:grpSpPr>
      <p:pic>
        <p:nvPicPr>
          <p:cNvPr id="52" name="Google Shape;52;p5"/>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53" name="Google Shape;53;p5"/>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lang="en" sz="4000">
                <a:solidFill>
                  <a:srgbClr val="1A1A1A"/>
                </a:solidFill>
                <a:latin typeface="Inter ExtraBold"/>
                <a:ea typeface="Inter ExtraBold"/>
                <a:cs typeface="Inter ExtraBold"/>
                <a:sym typeface="Inter ExtraBold"/>
              </a:rPr>
              <a:t>Carga de datos</a:t>
            </a:r>
            <a:endParaRPr b="0" i="0" sz="4000" u="none" cap="none" strike="noStrike">
              <a:solidFill>
                <a:srgbClr val="1A1A1A"/>
              </a:solidFill>
              <a:latin typeface="Inter ExtraBold"/>
              <a:ea typeface="Inter ExtraBold"/>
              <a:cs typeface="Inter ExtraBold"/>
              <a:sym typeface="Inter ExtraBold"/>
            </a:endParaRPr>
          </a:p>
        </p:txBody>
      </p:sp>
      <p:sp>
        <p:nvSpPr>
          <p:cNvPr id="54" name="Google Shape;54;p5"/>
          <p:cNvSpPr/>
          <p:nvPr/>
        </p:nvSpPr>
        <p:spPr>
          <a:xfrm>
            <a:off x="228600" y="1490700"/>
            <a:ext cx="2779800" cy="3424200"/>
          </a:xfrm>
          <a:prstGeom prst="roundRect">
            <a:avLst>
              <a:gd fmla="val 5630" name="adj"/>
            </a:avLst>
          </a:prstGeom>
          <a:solidFill>
            <a:schemeClr val="lt1"/>
          </a:solidFill>
          <a:ln>
            <a:noFill/>
          </a:ln>
        </p:spPr>
        <p:txBody>
          <a:bodyPr anchorCtr="0" anchor="b" bIns="0"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Archivos	</a:t>
            </a:r>
            <a:endParaRPr b="1" i="0" sz="1600" u="none" cap="none" strike="noStrike">
              <a:solidFill>
                <a:schemeClr val="dk1"/>
              </a:solidFill>
              <a:latin typeface="Inter"/>
              <a:ea typeface="Inter"/>
              <a:cs typeface="Inter"/>
              <a:sym typeface="Inter"/>
            </a:endParaRPr>
          </a:p>
          <a:p>
            <a:pPr indent="0" lvl="0" marL="0" marR="0" rtl="0" algn="l">
              <a:lnSpc>
                <a:spcPct val="115000"/>
              </a:lnSpc>
              <a:spcBef>
                <a:spcPts val="1200"/>
              </a:spcBef>
              <a:spcAft>
                <a:spcPts val="0"/>
              </a:spcAft>
              <a:buClr>
                <a:srgbClr val="000000"/>
              </a:buClr>
              <a:buSzPts val="1200"/>
              <a:buFont typeface="Arial"/>
              <a:buNone/>
            </a:pPr>
            <a:r>
              <a:rPr lang="en" sz="1200">
                <a:solidFill>
                  <a:srgbClr val="1A1A1A"/>
                </a:solidFill>
                <a:latin typeface="Inter"/>
                <a:ea typeface="Inter"/>
                <a:cs typeface="Inter"/>
                <a:sym typeface="Inter"/>
              </a:rPr>
              <a:t>Python junto con Pandas tienen el poder para poder cargar cualquier tipo de archivo. Principalmente, se utilizan archivos del tipo CSV y Excel, pero también existen conexiones directas a las bases de datos, tableros y más. </a:t>
            </a:r>
            <a:endParaRPr>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rgbClr val="000000"/>
              </a:buClr>
              <a:buSzPts val="1200"/>
              <a:buFont typeface="Arial"/>
              <a:buNone/>
            </a:pPr>
            <a:r>
              <a:t/>
            </a:r>
            <a:endParaRPr sz="1300">
              <a:solidFill>
                <a:srgbClr val="1A1A1A"/>
              </a:solidFill>
              <a:latin typeface="Inter"/>
              <a:ea typeface="Inter"/>
              <a:cs typeface="Inter"/>
              <a:sym typeface="Inter"/>
            </a:endParaRPr>
          </a:p>
        </p:txBody>
      </p:sp>
      <p:sp>
        <p:nvSpPr>
          <p:cNvPr id="55" name="Google Shape;55;p5"/>
          <p:cNvSpPr/>
          <p:nvPr/>
        </p:nvSpPr>
        <p:spPr>
          <a:xfrm>
            <a:off x="3182100" y="1490700"/>
            <a:ext cx="2779800" cy="3424200"/>
          </a:xfrm>
          <a:prstGeom prst="roundRect">
            <a:avLst>
              <a:gd fmla="val 5630" name="adj"/>
            </a:avLst>
          </a:prstGeom>
          <a:solidFill>
            <a:schemeClr val="lt1"/>
          </a:solidFill>
          <a:ln>
            <a:noFill/>
          </a:ln>
        </p:spPr>
        <p:txBody>
          <a:bodyPr anchorCtr="0" anchor="b" bIns="0"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Limpieza</a:t>
            </a:r>
            <a:endParaRPr b="1" i="0" sz="1600" u="none" cap="none" strike="noStrike">
              <a:solidFill>
                <a:schemeClr val="dk1"/>
              </a:solidFill>
              <a:latin typeface="Inter"/>
              <a:ea typeface="Inter"/>
              <a:cs typeface="Inter"/>
              <a:sym typeface="Inter"/>
            </a:endParaRPr>
          </a:p>
          <a:p>
            <a:pPr indent="0" lvl="0" marL="0" marR="0" rtl="0" algn="l">
              <a:lnSpc>
                <a:spcPct val="115000"/>
              </a:lnSpc>
              <a:spcBef>
                <a:spcPts val="1200"/>
              </a:spcBef>
              <a:spcAft>
                <a:spcPts val="0"/>
              </a:spcAft>
              <a:buClr>
                <a:srgbClr val="000000"/>
              </a:buClr>
              <a:buSzPts val="1200"/>
              <a:buFont typeface="Arial"/>
              <a:buNone/>
            </a:pPr>
            <a:r>
              <a:rPr lang="en" sz="1200">
                <a:solidFill>
                  <a:srgbClr val="1A1A1A"/>
                </a:solidFill>
                <a:latin typeface="Inter"/>
                <a:ea typeface="Inter"/>
                <a:cs typeface="Inter"/>
                <a:sym typeface="Inter"/>
              </a:rPr>
              <a:t>Ningún conjunto de datos viene limpio. La tarea de poner las cosas en orden es nuestra. Datos duplicados, valores faltantes, errores humanos, errores de tipeo, todo esto y más encontraremos siempre en nuestros datasets. </a:t>
            </a:r>
            <a:endParaRPr sz="1200">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rgbClr val="000000"/>
              </a:buClr>
              <a:buSzPts val="1200"/>
              <a:buFont typeface="Arial"/>
              <a:buNone/>
            </a:pPr>
            <a:r>
              <a:t/>
            </a:r>
            <a:endParaRPr sz="1600">
              <a:solidFill>
                <a:srgbClr val="1A1A1A"/>
              </a:solidFill>
              <a:latin typeface="Inter"/>
              <a:ea typeface="Inter"/>
              <a:cs typeface="Inter"/>
              <a:sym typeface="Inter"/>
            </a:endParaRPr>
          </a:p>
        </p:txBody>
      </p:sp>
      <p:sp>
        <p:nvSpPr>
          <p:cNvPr id="56" name="Google Shape;56;p5"/>
          <p:cNvSpPr/>
          <p:nvPr/>
        </p:nvSpPr>
        <p:spPr>
          <a:xfrm>
            <a:off x="6135600" y="1490700"/>
            <a:ext cx="2779800" cy="3424200"/>
          </a:xfrm>
          <a:prstGeom prst="roundRect">
            <a:avLst>
              <a:gd fmla="val 5630" name="adj"/>
            </a:avLst>
          </a:prstGeom>
          <a:solidFill>
            <a:schemeClr val="lt1"/>
          </a:solidFill>
          <a:ln>
            <a:noFill/>
          </a:ln>
        </p:spPr>
        <p:txBody>
          <a:bodyPr anchorCtr="0" anchor="b" bIns="0"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Preparación </a:t>
            </a:r>
            <a:endParaRPr b="1" i="0" sz="1600" u="none" cap="none" strike="noStrike">
              <a:solidFill>
                <a:schemeClr val="dk1"/>
              </a:solidFill>
              <a:latin typeface="Inter"/>
              <a:ea typeface="Inter"/>
              <a:cs typeface="Inter"/>
              <a:sym typeface="Inter"/>
            </a:endParaRPr>
          </a:p>
          <a:p>
            <a:pPr indent="0" lvl="0" marL="0" marR="0" rtl="0" algn="l">
              <a:lnSpc>
                <a:spcPct val="115000"/>
              </a:lnSpc>
              <a:spcBef>
                <a:spcPts val="1200"/>
              </a:spcBef>
              <a:spcAft>
                <a:spcPts val="0"/>
              </a:spcAft>
              <a:buClr>
                <a:srgbClr val="000000"/>
              </a:buClr>
              <a:buSzPts val="1200"/>
              <a:buFont typeface="Arial"/>
              <a:buNone/>
            </a:pPr>
            <a:r>
              <a:rPr lang="en" sz="1200">
                <a:solidFill>
                  <a:srgbClr val="1A1A1A"/>
                </a:solidFill>
                <a:latin typeface="Inter"/>
                <a:ea typeface="Inter"/>
                <a:cs typeface="Inter"/>
                <a:sym typeface="Inter"/>
              </a:rPr>
              <a:t>Los datos deben ser preparados antes de ser procesados. Tal como para una buena receta necesitamos comprar ingredientes, para confeccionar un buen dataset debemos trabajar los datos. Estos son nuestra materia prima. </a:t>
            </a:r>
            <a:endParaRPr sz="1200">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rgbClr val="000000"/>
              </a:buClr>
              <a:buSzPts val="1200"/>
              <a:buFont typeface="Arial"/>
              <a:buNone/>
            </a:pPr>
            <a:r>
              <a:t/>
            </a:r>
            <a:endParaRPr sz="100">
              <a:solidFill>
                <a:srgbClr val="1A1A1A"/>
              </a:solidFill>
              <a:latin typeface="Inter"/>
              <a:ea typeface="Inter"/>
              <a:cs typeface="Inter"/>
              <a:sym typeface="Inter"/>
            </a:endParaRPr>
          </a:p>
        </p:txBody>
      </p:sp>
      <p:pic>
        <p:nvPicPr>
          <p:cNvPr id="57" name="Google Shape;57;p5"/>
          <p:cNvPicPr preferRelativeResize="0"/>
          <p:nvPr/>
        </p:nvPicPr>
        <p:blipFill rotWithShape="1">
          <a:blip r:embed="rId4">
            <a:alphaModFix/>
          </a:blip>
          <a:srcRect b="0" l="0" r="0" t="0"/>
          <a:stretch/>
        </p:blipFill>
        <p:spPr>
          <a:xfrm>
            <a:off x="381004" y="1643103"/>
            <a:ext cx="406490" cy="572163"/>
          </a:xfrm>
          <a:prstGeom prst="rect">
            <a:avLst/>
          </a:prstGeom>
          <a:noFill/>
          <a:ln>
            <a:noFill/>
          </a:ln>
        </p:spPr>
      </p:pic>
      <p:pic>
        <p:nvPicPr>
          <p:cNvPr id="58" name="Google Shape;58;p5"/>
          <p:cNvPicPr preferRelativeResize="0"/>
          <p:nvPr/>
        </p:nvPicPr>
        <p:blipFill rotWithShape="1">
          <a:blip r:embed="rId5">
            <a:alphaModFix/>
          </a:blip>
          <a:srcRect b="0" l="0" r="0" t="0"/>
          <a:stretch/>
        </p:blipFill>
        <p:spPr>
          <a:xfrm>
            <a:off x="3334498" y="1643105"/>
            <a:ext cx="406490" cy="572163"/>
          </a:xfrm>
          <a:prstGeom prst="rect">
            <a:avLst/>
          </a:prstGeom>
          <a:noFill/>
          <a:ln>
            <a:noFill/>
          </a:ln>
        </p:spPr>
      </p:pic>
      <p:pic>
        <p:nvPicPr>
          <p:cNvPr id="59" name="Google Shape;59;p5"/>
          <p:cNvPicPr preferRelativeResize="0"/>
          <p:nvPr/>
        </p:nvPicPr>
        <p:blipFill rotWithShape="1">
          <a:blip r:embed="rId6">
            <a:alphaModFix/>
          </a:blip>
          <a:srcRect b="0" l="0" r="0" t="0"/>
          <a:stretch/>
        </p:blipFill>
        <p:spPr>
          <a:xfrm>
            <a:off x="6288009" y="1643104"/>
            <a:ext cx="406490" cy="5721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1EE"/>
        </a:solidFill>
      </p:bgPr>
    </p:bg>
    <p:spTree>
      <p:nvGrpSpPr>
        <p:cNvPr id="63" name="Shape 63"/>
        <p:cNvGrpSpPr/>
        <p:nvPr/>
      </p:nvGrpSpPr>
      <p:grpSpPr>
        <a:xfrm>
          <a:off x="0" y="0"/>
          <a:ext cx="0" cy="0"/>
          <a:chOff x="0" y="0"/>
          <a:chExt cx="0" cy="0"/>
        </a:xfrm>
      </p:grpSpPr>
      <p:sp>
        <p:nvSpPr>
          <p:cNvPr id="64" name="Google Shape;64;p6"/>
          <p:cNvSpPr/>
          <p:nvPr/>
        </p:nvSpPr>
        <p:spPr>
          <a:xfrm>
            <a:off x="6193200" y="1993375"/>
            <a:ext cx="2724900" cy="2904000"/>
          </a:xfrm>
          <a:prstGeom prst="snip1Rect">
            <a:avLst>
              <a:gd fmla="val 9643" name="adj"/>
            </a:avLst>
          </a:prstGeom>
          <a:solidFill>
            <a:schemeClr val="lt1"/>
          </a:solidFill>
          <a:ln>
            <a:noFill/>
          </a:ln>
        </p:spPr>
        <p:txBody>
          <a:bodyPr anchorCtr="0" anchor="t" bIns="274300" lIns="274300" spcFirstLastPara="1" rIns="274300"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Valores Ausentes</a:t>
            </a:r>
            <a:endParaRPr b="1" i="0" sz="1600" u="none" cap="none" strike="noStrike">
              <a:solidFill>
                <a:schemeClr val="dk1"/>
              </a:solidFill>
              <a:latin typeface="Inter"/>
              <a:ea typeface="Inter"/>
              <a:cs typeface="Inter"/>
              <a:sym typeface="Inter"/>
            </a:endParaRPr>
          </a:p>
          <a:p>
            <a:pPr indent="0" lvl="0" marL="0" marR="0" rtl="0" algn="l">
              <a:lnSpc>
                <a:spcPct val="115000"/>
              </a:lnSpc>
              <a:spcBef>
                <a:spcPts val="1200"/>
              </a:spcBef>
              <a:spcAft>
                <a:spcPts val="1200"/>
              </a:spcAft>
              <a:buClr>
                <a:schemeClr val="dk1"/>
              </a:buClr>
              <a:buSzPts val="1100"/>
              <a:buFont typeface="Arial"/>
              <a:buNone/>
            </a:pPr>
            <a:r>
              <a:rPr lang="en" sz="1200">
                <a:solidFill>
                  <a:srgbClr val="1A1A1A"/>
                </a:solidFill>
                <a:latin typeface="Inter"/>
                <a:ea typeface="Inter"/>
                <a:cs typeface="Inter"/>
                <a:sym typeface="Inter"/>
              </a:rPr>
              <a:t>No existe análisis que no se encuentre con valores ausentes. Saber manejarlos es fundamental. Es importante saber si es conveniente reemplazarlos, eliminarlos o cómo evaluarlos. </a:t>
            </a:r>
            <a:endParaRPr b="0" i="0" sz="2400" u="none" cap="none" strike="noStrike">
              <a:solidFill>
                <a:srgbClr val="1A1A1A"/>
              </a:solidFill>
              <a:latin typeface="Inter Medium"/>
              <a:ea typeface="Inter Medium"/>
              <a:cs typeface="Inter Medium"/>
              <a:sym typeface="Inter Medium"/>
            </a:endParaRPr>
          </a:p>
        </p:txBody>
      </p:sp>
      <p:pic>
        <p:nvPicPr>
          <p:cNvPr id="65" name="Google Shape;65;p6"/>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66" name="Google Shape;66;p6"/>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lang="en" sz="4000">
                <a:solidFill>
                  <a:srgbClr val="1A1A1A"/>
                </a:solidFill>
                <a:latin typeface="Inter ExtraBold"/>
                <a:ea typeface="Inter ExtraBold"/>
                <a:cs typeface="Inter ExtraBold"/>
                <a:sym typeface="Inter ExtraBold"/>
              </a:rPr>
              <a:t>Filtrado y Visualización de Datos</a:t>
            </a:r>
            <a:endParaRPr b="0" i="0" sz="4000" u="none" cap="none" strike="noStrike">
              <a:solidFill>
                <a:srgbClr val="1A1A1A"/>
              </a:solidFill>
              <a:latin typeface="Inter ExtraBold"/>
              <a:ea typeface="Inter ExtraBold"/>
              <a:cs typeface="Inter ExtraBold"/>
              <a:sym typeface="Inter ExtraBold"/>
            </a:endParaRPr>
          </a:p>
        </p:txBody>
      </p:sp>
      <p:sp>
        <p:nvSpPr>
          <p:cNvPr id="67" name="Google Shape;67;p6"/>
          <p:cNvSpPr/>
          <p:nvPr/>
        </p:nvSpPr>
        <p:spPr>
          <a:xfrm>
            <a:off x="228600" y="1993375"/>
            <a:ext cx="2722200" cy="2921700"/>
          </a:xfrm>
          <a:prstGeom prst="snip2DiagRect">
            <a:avLst>
              <a:gd fmla="val 0" name="adj1"/>
              <a:gd fmla="val 9217" name="adj2"/>
            </a:avLst>
          </a:prstGeom>
          <a:solidFill>
            <a:schemeClr val="lt1"/>
          </a:solidFill>
          <a:ln>
            <a:noFill/>
          </a:ln>
        </p:spPr>
        <p:txBody>
          <a:bodyPr anchorCtr="0" anchor="t" bIns="274300"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Filtrado</a:t>
            </a:r>
            <a:endParaRPr b="1" i="0" sz="1600" u="none" cap="none" strike="noStrike">
              <a:solidFill>
                <a:schemeClr val="dk1"/>
              </a:solidFill>
              <a:latin typeface="Inter"/>
              <a:ea typeface="Inter"/>
              <a:cs typeface="Inter"/>
              <a:sym typeface="Inter"/>
            </a:endParaRPr>
          </a:p>
          <a:p>
            <a:pPr indent="0" lvl="0" marL="0" marR="0" rtl="0" algn="l">
              <a:lnSpc>
                <a:spcPct val="115000"/>
              </a:lnSpc>
              <a:spcBef>
                <a:spcPts val="1200"/>
              </a:spcBef>
              <a:spcAft>
                <a:spcPts val="1200"/>
              </a:spcAft>
              <a:buClr>
                <a:schemeClr val="dk1"/>
              </a:buClr>
              <a:buSzPts val="1100"/>
              <a:buFont typeface="Arial"/>
              <a:buNone/>
            </a:pPr>
            <a:r>
              <a:rPr lang="en" sz="1200">
                <a:solidFill>
                  <a:srgbClr val="1A1A1A"/>
                </a:solidFill>
                <a:latin typeface="Inter"/>
                <a:ea typeface="Inter"/>
                <a:cs typeface="Inter"/>
                <a:sym typeface="Inter"/>
              </a:rPr>
              <a:t>Durante el análisis inicial de los datos es fundamental saber distinguir y filtrar aquellos datos que cuentan con las características que los hacen de calidad. El resto será filtrado y dejado de lado.  </a:t>
            </a:r>
            <a:endParaRPr b="0" i="0" sz="1200" u="none" cap="none" strike="noStrike">
              <a:solidFill>
                <a:srgbClr val="1A1A1A"/>
              </a:solidFill>
              <a:latin typeface="Inter Medium"/>
              <a:ea typeface="Inter Medium"/>
              <a:cs typeface="Inter Medium"/>
              <a:sym typeface="Inter Medium"/>
            </a:endParaRPr>
          </a:p>
        </p:txBody>
      </p:sp>
      <p:sp>
        <p:nvSpPr>
          <p:cNvPr id="68" name="Google Shape;68;p6"/>
          <p:cNvSpPr/>
          <p:nvPr/>
        </p:nvSpPr>
        <p:spPr>
          <a:xfrm>
            <a:off x="3209550" y="1993375"/>
            <a:ext cx="2724900" cy="2921700"/>
          </a:xfrm>
          <a:prstGeom prst="roundRect">
            <a:avLst>
              <a:gd fmla="val 9118" name="adj"/>
            </a:avLst>
          </a:prstGeom>
          <a:solidFill>
            <a:schemeClr val="lt1"/>
          </a:solidFill>
          <a:ln>
            <a:noFill/>
          </a:ln>
        </p:spPr>
        <p:txBody>
          <a:bodyPr anchorCtr="0" anchor="t" bIns="274300" lIns="182875" spcFirstLastPara="1" rIns="18287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Tipo de Datos		</a:t>
            </a:r>
            <a:endParaRPr b="1" i="0" sz="1600" u="none" cap="none" strike="noStrike">
              <a:solidFill>
                <a:schemeClr val="dk1"/>
              </a:solidFill>
              <a:latin typeface="Inter"/>
              <a:ea typeface="Inter"/>
              <a:cs typeface="Inter"/>
              <a:sym typeface="Inter"/>
            </a:endParaRPr>
          </a:p>
          <a:p>
            <a:pPr indent="0" lvl="0" marL="0" marR="0" rtl="0" algn="l">
              <a:lnSpc>
                <a:spcPct val="115000"/>
              </a:lnSpc>
              <a:spcBef>
                <a:spcPts val="1200"/>
              </a:spcBef>
              <a:spcAft>
                <a:spcPts val="1200"/>
              </a:spcAft>
              <a:buClr>
                <a:schemeClr val="dk1"/>
              </a:buClr>
              <a:buSzPts val="1100"/>
              <a:buFont typeface="Arial"/>
              <a:buNone/>
            </a:pPr>
            <a:r>
              <a:rPr lang="en" sz="1200">
                <a:solidFill>
                  <a:srgbClr val="1A1A1A"/>
                </a:solidFill>
                <a:latin typeface="Inter"/>
                <a:ea typeface="Inter"/>
                <a:cs typeface="Inter"/>
                <a:sym typeface="Inter"/>
              </a:rPr>
              <a:t>Existen muchos tipos de datos. Varios de ellos pueden ser trabajados tal como los recibimos, otros deberán ser transformados para poder ser procesados. Un ejemplo clásico son los datos de tipo fecha: en casi todos los casos necesitan ser trabajados. </a:t>
            </a:r>
            <a:endParaRPr b="0" i="0" sz="2400" u="none" cap="none" strike="noStrike">
              <a:solidFill>
                <a:srgbClr val="1A1A1A"/>
              </a:solidFill>
              <a:latin typeface="Inter Medium"/>
              <a:ea typeface="Inter Medium"/>
              <a:cs typeface="Inter Medium"/>
              <a:sym typeface="Inter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72" name="Shape 72"/>
        <p:cNvGrpSpPr/>
        <p:nvPr/>
      </p:nvGrpSpPr>
      <p:grpSpPr>
        <a:xfrm>
          <a:off x="0" y="0"/>
          <a:ext cx="0" cy="0"/>
          <a:chOff x="0" y="0"/>
          <a:chExt cx="0" cy="0"/>
        </a:xfrm>
      </p:grpSpPr>
      <p:pic>
        <p:nvPicPr>
          <p:cNvPr id="73" name="Google Shape;73;p7"/>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74" name="Google Shape;74;p7"/>
          <p:cNvSpPr txBox="1"/>
          <p:nvPr>
            <p:ph type="ctrTitle"/>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4000" u="none" cap="none" strike="noStrike">
                <a:solidFill>
                  <a:srgbClr val="1A1A1A"/>
                </a:solidFill>
                <a:latin typeface="Inter ExtraBold"/>
                <a:ea typeface="Inter ExtraBold"/>
                <a:cs typeface="Inter ExtraBold"/>
                <a:sym typeface="Inter ExtraBold"/>
              </a:rPr>
              <a:t>Codificando juntos</a:t>
            </a:r>
            <a:endParaRPr b="0" i="0" sz="4000" u="none" cap="none" strike="noStrike">
              <a:solidFill>
                <a:srgbClr val="1A1A1A"/>
              </a:solidFill>
              <a:latin typeface="Inter ExtraBold"/>
              <a:ea typeface="Inter ExtraBold"/>
              <a:cs typeface="Inter ExtraBold"/>
              <a:sym typeface="Inter ExtraBold"/>
            </a:endParaRPr>
          </a:p>
        </p:txBody>
      </p:sp>
      <p:sp>
        <p:nvSpPr>
          <p:cNvPr id="75" name="Google Shape;75;p7"/>
          <p:cNvSpPr txBox="1"/>
          <p:nvPr/>
        </p:nvSpPr>
        <p:spPr>
          <a:xfrm>
            <a:off x="1095375" y="2438452"/>
            <a:ext cx="3050700" cy="80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Carga de Datos</a:t>
            </a:r>
            <a:endParaRPr b="1" i="0" sz="1600" u="none" cap="none" strike="noStrike">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chemeClr val="dk1"/>
              </a:buClr>
              <a:buSzPts val="1100"/>
              <a:buFont typeface="Arial"/>
              <a:buNone/>
            </a:pPr>
            <a:r>
              <a:rPr lang="en" sz="1200">
                <a:solidFill>
                  <a:srgbClr val="1A1A1A"/>
                </a:solidFill>
                <a:latin typeface="Inter"/>
                <a:ea typeface="Inter"/>
                <a:cs typeface="Inter"/>
                <a:sym typeface="Inter"/>
              </a:rPr>
              <a:t>Realizar carga de datos. </a:t>
            </a:r>
            <a:endParaRPr b="0" i="0" sz="1200" u="none" cap="none" strike="noStrike">
              <a:solidFill>
                <a:srgbClr val="1A1A1A"/>
              </a:solidFill>
              <a:latin typeface="Inter"/>
              <a:ea typeface="Inter"/>
              <a:cs typeface="Inter"/>
              <a:sym typeface="Inter"/>
            </a:endParaRPr>
          </a:p>
        </p:txBody>
      </p:sp>
      <p:sp>
        <p:nvSpPr>
          <p:cNvPr id="76" name="Google Shape;76;p7"/>
          <p:cNvSpPr txBox="1"/>
          <p:nvPr/>
        </p:nvSpPr>
        <p:spPr>
          <a:xfrm>
            <a:off x="1171575" y="3966245"/>
            <a:ext cx="2950800" cy="80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Valores nulos</a:t>
            </a:r>
            <a:endParaRPr b="1" i="0" sz="1600" u="none" cap="none" strike="noStrike">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rgbClr val="000000"/>
              </a:buClr>
              <a:buSzPts val="1200"/>
              <a:buFont typeface="Arial"/>
              <a:buNone/>
            </a:pPr>
            <a:r>
              <a:rPr lang="en" sz="1200">
                <a:solidFill>
                  <a:srgbClr val="1A1A1A"/>
                </a:solidFill>
                <a:latin typeface="Inter"/>
                <a:ea typeface="Inter"/>
                <a:cs typeface="Inter"/>
                <a:sym typeface="Inter"/>
              </a:rPr>
              <a:t>Transformar y procesar valores nulos. </a:t>
            </a:r>
            <a:endParaRPr b="0" i="0" sz="1200" u="none" cap="none" strike="noStrike">
              <a:solidFill>
                <a:srgbClr val="1A1A1A"/>
              </a:solidFill>
              <a:latin typeface="Inter"/>
              <a:ea typeface="Inter"/>
              <a:cs typeface="Inter"/>
              <a:sym typeface="Inter"/>
            </a:endParaRPr>
          </a:p>
        </p:txBody>
      </p:sp>
      <p:pic>
        <p:nvPicPr>
          <p:cNvPr id="77" name="Google Shape;77;p7"/>
          <p:cNvPicPr preferRelativeResize="0"/>
          <p:nvPr/>
        </p:nvPicPr>
        <p:blipFill rotWithShape="1">
          <a:blip r:embed="rId4">
            <a:alphaModFix/>
          </a:blip>
          <a:srcRect b="0" l="0" r="0" t="0"/>
          <a:stretch/>
        </p:blipFill>
        <p:spPr>
          <a:xfrm>
            <a:off x="1171567" y="1717054"/>
            <a:ext cx="645459" cy="645201"/>
          </a:xfrm>
          <a:prstGeom prst="rect">
            <a:avLst/>
          </a:prstGeom>
          <a:noFill/>
          <a:ln>
            <a:noFill/>
          </a:ln>
        </p:spPr>
      </p:pic>
      <p:pic>
        <p:nvPicPr>
          <p:cNvPr id="78" name="Google Shape;78;p7"/>
          <p:cNvPicPr preferRelativeResize="0"/>
          <p:nvPr/>
        </p:nvPicPr>
        <p:blipFill rotWithShape="1">
          <a:blip r:embed="rId5">
            <a:alphaModFix/>
          </a:blip>
          <a:srcRect b="0" l="0" r="0" t="0"/>
          <a:stretch/>
        </p:blipFill>
        <p:spPr>
          <a:xfrm>
            <a:off x="1241329" y="3244854"/>
            <a:ext cx="645459" cy="645201"/>
          </a:xfrm>
          <a:prstGeom prst="rect">
            <a:avLst/>
          </a:prstGeom>
          <a:noFill/>
          <a:ln>
            <a:noFill/>
          </a:ln>
        </p:spPr>
      </p:pic>
      <p:sp>
        <p:nvSpPr>
          <p:cNvPr id="79" name="Google Shape;79;p7"/>
          <p:cNvSpPr txBox="1"/>
          <p:nvPr/>
        </p:nvSpPr>
        <p:spPr>
          <a:xfrm>
            <a:off x="4894600" y="2438452"/>
            <a:ext cx="3050700" cy="80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Manejo de Variables</a:t>
            </a:r>
            <a:endParaRPr b="1" i="0" sz="1600" u="none" cap="none" strike="noStrike">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chemeClr val="dk1"/>
              </a:buClr>
              <a:buSzPts val="1100"/>
              <a:buFont typeface="Arial"/>
              <a:buNone/>
            </a:pPr>
            <a:r>
              <a:rPr b="0" i="0" lang="en" sz="1200" u="none" cap="none" strike="noStrike">
                <a:solidFill>
                  <a:srgbClr val="1A1A1A"/>
                </a:solidFill>
                <a:latin typeface="Inter"/>
                <a:ea typeface="Inter"/>
                <a:cs typeface="Inter"/>
                <a:sym typeface="Inter"/>
              </a:rPr>
              <a:t>Manipular y formatear </a:t>
            </a:r>
            <a:r>
              <a:rPr lang="en" sz="1200">
                <a:solidFill>
                  <a:srgbClr val="1A1A1A"/>
                </a:solidFill>
                <a:latin typeface="Inter"/>
                <a:ea typeface="Inter"/>
                <a:cs typeface="Inter"/>
                <a:sym typeface="Inter"/>
              </a:rPr>
              <a:t>variables.</a:t>
            </a:r>
            <a:endParaRPr b="0" i="0" sz="1200" u="none" cap="none" strike="noStrike">
              <a:solidFill>
                <a:srgbClr val="1A1A1A"/>
              </a:solidFill>
              <a:latin typeface="Inter"/>
              <a:ea typeface="Inter"/>
              <a:cs typeface="Inter"/>
              <a:sym typeface="Inter"/>
            </a:endParaRPr>
          </a:p>
        </p:txBody>
      </p:sp>
      <p:sp>
        <p:nvSpPr>
          <p:cNvPr id="80" name="Google Shape;80;p7"/>
          <p:cNvSpPr txBox="1"/>
          <p:nvPr/>
        </p:nvSpPr>
        <p:spPr>
          <a:xfrm>
            <a:off x="4970800" y="3966245"/>
            <a:ext cx="2950800" cy="101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lang="en" sz="1600">
                <a:solidFill>
                  <a:schemeClr val="dk1"/>
                </a:solidFill>
                <a:latin typeface="Inter"/>
                <a:ea typeface="Inter"/>
                <a:cs typeface="Inter"/>
                <a:sym typeface="Inter"/>
              </a:rPr>
              <a:t>Valores erróneos</a:t>
            </a:r>
            <a:endParaRPr b="1" i="0" sz="1600" u="none" cap="none" strike="noStrike">
              <a:solidFill>
                <a:srgbClr val="1A1A1A"/>
              </a:solidFill>
              <a:latin typeface="Inter"/>
              <a:ea typeface="Inter"/>
              <a:cs typeface="Inter"/>
              <a:sym typeface="Inter"/>
            </a:endParaRPr>
          </a:p>
          <a:p>
            <a:pPr indent="0" lvl="0" marL="0" marR="0" rtl="0" algn="l">
              <a:lnSpc>
                <a:spcPct val="115000"/>
              </a:lnSpc>
              <a:spcBef>
                <a:spcPts val="1200"/>
              </a:spcBef>
              <a:spcAft>
                <a:spcPts val="1200"/>
              </a:spcAft>
              <a:buClr>
                <a:srgbClr val="000000"/>
              </a:buClr>
              <a:buSzPts val="1200"/>
              <a:buFont typeface="Arial"/>
              <a:buNone/>
            </a:pPr>
            <a:r>
              <a:rPr lang="en" sz="1200">
                <a:solidFill>
                  <a:srgbClr val="1A1A1A"/>
                </a:solidFill>
                <a:latin typeface="Inter"/>
                <a:ea typeface="Inter"/>
                <a:cs typeface="Inter"/>
                <a:sym typeface="Inter"/>
              </a:rPr>
              <a:t>Trabajar con valores extremos y erróneos. </a:t>
            </a:r>
            <a:endParaRPr b="0" i="0" sz="1200" u="none" cap="none" strike="noStrike">
              <a:solidFill>
                <a:srgbClr val="1A1A1A"/>
              </a:solidFill>
              <a:latin typeface="Inter"/>
              <a:ea typeface="Inter"/>
              <a:cs typeface="Inter"/>
              <a:sym typeface="Inter"/>
            </a:endParaRPr>
          </a:p>
        </p:txBody>
      </p:sp>
      <p:pic>
        <p:nvPicPr>
          <p:cNvPr id="81" name="Google Shape;81;p7"/>
          <p:cNvPicPr preferRelativeResize="0"/>
          <p:nvPr/>
        </p:nvPicPr>
        <p:blipFill rotWithShape="1">
          <a:blip r:embed="rId4">
            <a:alphaModFix/>
          </a:blip>
          <a:srcRect b="0" l="0" r="0" t="0"/>
          <a:stretch/>
        </p:blipFill>
        <p:spPr>
          <a:xfrm>
            <a:off x="4970792" y="1717054"/>
            <a:ext cx="645459" cy="645201"/>
          </a:xfrm>
          <a:prstGeom prst="rect">
            <a:avLst/>
          </a:prstGeom>
          <a:noFill/>
          <a:ln>
            <a:noFill/>
          </a:ln>
        </p:spPr>
      </p:pic>
      <p:pic>
        <p:nvPicPr>
          <p:cNvPr id="82" name="Google Shape;82;p7"/>
          <p:cNvPicPr preferRelativeResize="0"/>
          <p:nvPr/>
        </p:nvPicPr>
        <p:blipFill rotWithShape="1">
          <a:blip r:embed="rId5">
            <a:alphaModFix/>
          </a:blip>
          <a:srcRect b="0" l="0" r="0" t="0"/>
          <a:stretch/>
        </p:blipFill>
        <p:spPr>
          <a:xfrm>
            <a:off x="5040554" y="3244854"/>
            <a:ext cx="645459" cy="6452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86" name="Shape 86"/>
        <p:cNvGrpSpPr/>
        <p:nvPr/>
      </p:nvGrpSpPr>
      <p:grpSpPr>
        <a:xfrm>
          <a:off x="0" y="0"/>
          <a:ext cx="0" cy="0"/>
          <a:chOff x="0" y="0"/>
          <a:chExt cx="0" cy="0"/>
        </a:xfrm>
      </p:grpSpPr>
      <p:pic>
        <p:nvPicPr>
          <p:cNvPr id="87" name="Google Shape;87;p9"/>
          <p:cNvPicPr preferRelativeResize="0"/>
          <p:nvPr/>
        </p:nvPicPr>
        <p:blipFill rotWithShape="1">
          <a:blip r:embed="rId3">
            <a:alphaModFix/>
          </a:blip>
          <a:srcRect b="0" l="0" r="0" t="0"/>
          <a:stretch/>
        </p:blipFill>
        <p:spPr>
          <a:xfrm>
            <a:off x="228600" y="228600"/>
            <a:ext cx="868680" cy="191756"/>
          </a:xfrm>
          <a:prstGeom prst="rect">
            <a:avLst/>
          </a:prstGeom>
          <a:noFill/>
          <a:ln>
            <a:noFill/>
          </a:ln>
        </p:spPr>
      </p:pic>
      <p:sp>
        <p:nvSpPr>
          <p:cNvPr id="88" name="Google Shape;88;p9"/>
          <p:cNvSpPr txBox="1"/>
          <p:nvPr/>
        </p:nvSpPr>
        <p:spPr>
          <a:xfrm>
            <a:off x="96875" y="424975"/>
            <a:ext cx="85206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n" sz="4000" u="none" cap="none" strike="noStrike">
                <a:solidFill>
                  <a:srgbClr val="F2F1EE"/>
                </a:solidFill>
                <a:latin typeface="Inter ExtraBold"/>
                <a:ea typeface="Inter ExtraBold"/>
                <a:cs typeface="Inter ExtraBold"/>
                <a:sym typeface="Inter ExtraBold"/>
              </a:rPr>
              <a:t>¿Preguntas?</a:t>
            </a:r>
            <a:endParaRPr b="0" i="0" sz="4000" u="none" cap="none" strike="noStrike">
              <a:solidFill>
                <a:srgbClr val="F2F1EE"/>
              </a:solidFill>
              <a:latin typeface="Inter ExtraBold"/>
              <a:ea typeface="Inter ExtraBold"/>
              <a:cs typeface="Inter ExtraBold"/>
              <a:sym typeface="Inter ExtraBold"/>
            </a:endParaRPr>
          </a:p>
        </p:txBody>
      </p:sp>
      <p:sp>
        <p:nvSpPr>
          <p:cNvPr id="89" name="Google Shape;89;p9"/>
          <p:cNvSpPr txBox="1"/>
          <p:nvPr/>
        </p:nvSpPr>
        <p:spPr>
          <a:xfrm>
            <a:off x="139800" y="2298300"/>
            <a:ext cx="6053400" cy="2616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F2F1EE"/>
                </a:solidFill>
                <a:latin typeface="Inter"/>
                <a:ea typeface="Inter"/>
                <a:cs typeface="Inter"/>
                <a:sym typeface="Inter"/>
              </a:rPr>
              <a:t>Estoy aquí para ayudarles. No duden en contactarme si tienen alguna duda o inquietud.</a:t>
            </a:r>
            <a:endParaRPr b="0" i="0" sz="2000" u="none" cap="none" strike="noStrike">
              <a:solidFill>
                <a:srgbClr val="F2F1EE"/>
              </a:solidFill>
              <a:latin typeface="Inter"/>
              <a:ea typeface="Inter"/>
              <a:cs typeface="Inter"/>
              <a:sym typeface="Inter"/>
            </a:endParaRPr>
          </a:p>
        </p:txBody>
      </p:sp>
      <p:pic>
        <p:nvPicPr>
          <p:cNvPr id="90" name="Google Shape;90;p9"/>
          <p:cNvPicPr preferRelativeResize="0"/>
          <p:nvPr/>
        </p:nvPicPr>
        <p:blipFill rotWithShape="1">
          <a:blip r:embed="rId4">
            <a:alphaModFix/>
          </a:blip>
          <a:srcRect b="0" l="0" r="0" t="0"/>
          <a:stretch/>
        </p:blipFill>
        <p:spPr>
          <a:xfrm>
            <a:off x="1097280" y="1131575"/>
            <a:ext cx="6401751" cy="2510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94" name="Shape 94"/>
        <p:cNvGrpSpPr/>
        <p:nvPr/>
      </p:nvGrpSpPr>
      <p:grpSpPr>
        <a:xfrm>
          <a:off x="0" y="0"/>
          <a:ext cx="0" cy="0"/>
          <a:chOff x="0" y="0"/>
          <a:chExt cx="0" cy="0"/>
        </a:xfrm>
      </p:grpSpPr>
      <p:sp>
        <p:nvSpPr>
          <p:cNvPr id="95" name="Google Shape;95;p10"/>
          <p:cNvSpPr txBox="1"/>
          <p:nvPr>
            <p:ph type="ctrTitle"/>
          </p:nvPr>
        </p:nvSpPr>
        <p:spPr>
          <a:xfrm>
            <a:off x="311688" y="1740600"/>
            <a:ext cx="8520600" cy="1662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1A1A1A"/>
                </a:solidFill>
                <a:latin typeface="Inter ExtraBold"/>
                <a:ea typeface="Inter ExtraBold"/>
                <a:cs typeface="Inter ExtraBold"/>
                <a:sym typeface="Inter ExtraBold"/>
              </a:rPr>
              <a:t>¡Gracias      por acompañarnos!</a:t>
            </a:r>
            <a:endParaRPr b="0" i="0" sz="4800" u="none" cap="none" strike="noStrike">
              <a:solidFill>
                <a:srgbClr val="1A1A1A"/>
              </a:solidFill>
              <a:latin typeface="Inter ExtraBold"/>
              <a:ea typeface="Inter ExtraBold"/>
              <a:cs typeface="Inter ExtraBold"/>
              <a:sym typeface="Inter ExtraBold"/>
            </a:endParaRPr>
          </a:p>
        </p:txBody>
      </p:sp>
      <p:pic>
        <p:nvPicPr>
          <p:cNvPr id="96" name="Google Shape;96;p10"/>
          <p:cNvPicPr preferRelativeResize="0"/>
          <p:nvPr/>
        </p:nvPicPr>
        <p:blipFill rotWithShape="1">
          <a:blip r:embed="rId3">
            <a:alphaModFix/>
          </a:blip>
          <a:srcRect b="0" l="0" r="0" t="0"/>
          <a:stretch/>
        </p:blipFill>
        <p:spPr>
          <a:xfrm>
            <a:off x="5005383" y="1957825"/>
            <a:ext cx="645459" cy="645201"/>
          </a:xfrm>
          <a:prstGeom prst="rect">
            <a:avLst/>
          </a:prstGeom>
          <a:noFill/>
          <a:ln>
            <a:noFill/>
          </a:ln>
        </p:spPr>
      </p:pic>
      <p:pic>
        <p:nvPicPr>
          <p:cNvPr id="97" name="Google Shape;97;p10"/>
          <p:cNvPicPr preferRelativeResize="0"/>
          <p:nvPr/>
        </p:nvPicPr>
        <p:blipFill rotWithShape="1">
          <a:blip r:embed="rId4">
            <a:alphaModFix/>
          </a:blip>
          <a:srcRect b="0" l="0" r="0" t="0"/>
          <a:stretch/>
        </p:blipFill>
        <p:spPr>
          <a:xfrm>
            <a:off x="4138613" y="228600"/>
            <a:ext cx="866775" cy="194225"/>
          </a:xfrm>
          <a:prstGeom prst="rect">
            <a:avLst/>
          </a:prstGeom>
          <a:noFill/>
          <a:ln>
            <a:noFill/>
          </a:ln>
        </p:spPr>
      </p:pic>
      <p:sp>
        <p:nvSpPr>
          <p:cNvPr id="98" name="Google Shape;98;p10"/>
          <p:cNvSpPr txBox="1"/>
          <p:nvPr/>
        </p:nvSpPr>
        <p:spPr>
          <a:xfrm>
            <a:off x="1772400" y="4267150"/>
            <a:ext cx="5599200" cy="648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1200"/>
              </a:spcBef>
              <a:spcAft>
                <a:spcPts val="1200"/>
              </a:spcAft>
              <a:buClr>
                <a:srgbClr val="000000"/>
              </a:buClr>
              <a:buSzPts val="1400"/>
              <a:buFont typeface="Arial"/>
              <a:buNone/>
            </a:pPr>
            <a:r>
              <a:rPr b="0" i="0" lang="en" sz="1400" u="none" cap="none" strike="noStrike">
                <a:solidFill>
                  <a:srgbClr val="1A1A1A"/>
                </a:solidFill>
                <a:latin typeface="Inter"/>
                <a:ea typeface="Inter"/>
                <a:cs typeface="Inter"/>
                <a:sym typeface="Inter"/>
              </a:rPr>
              <a:t>Les deseo lo mejor en su viaje de aprendizaje de Python. </a:t>
            </a:r>
            <a:br>
              <a:rPr b="0" i="0" lang="en" sz="1400" u="none" cap="none" strike="noStrike">
                <a:solidFill>
                  <a:srgbClr val="1A1A1A"/>
                </a:solidFill>
                <a:latin typeface="Inter"/>
                <a:ea typeface="Inter"/>
                <a:cs typeface="Inter"/>
                <a:sym typeface="Inter"/>
              </a:rPr>
            </a:br>
            <a:r>
              <a:rPr b="0" i="0" lang="en" sz="1400" u="none" cap="none" strike="noStrike">
                <a:solidFill>
                  <a:srgbClr val="1A1A1A"/>
                </a:solidFill>
                <a:latin typeface="Inter"/>
                <a:ea typeface="Inter"/>
                <a:cs typeface="Inter"/>
                <a:sym typeface="Inter"/>
              </a:rPr>
              <a:t>¡Que esta sea la puerta de entrada a un mundo de posibilidades!</a:t>
            </a:r>
            <a:endParaRPr b="0" i="0" sz="1400" u="none" cap="none" strike="noStrike">
              <a:solidFill>
                <a:srgbClr val="1A1A1A"/>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Juan Sebastian Araujo</dc:creator>
</cp:coreProperties>
</file>