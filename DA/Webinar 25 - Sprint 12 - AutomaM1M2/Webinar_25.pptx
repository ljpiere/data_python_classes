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8"/>
  </p:notesMasterIdLst>
  <p:sldIdLst>
    <p:sldId id="256" r:id="rId2"/>
    <p:sldId id="258" r:id="rId3"/>
    <p:sldId id="260" r:id="rId4"/>
    <p:sldId id="305" r:id="rId5"/>
    <p:sldId id="275" r:id="rId6"/>
    <p:sldId id="278" r:id="rId7"/>
    <p:sldId id="264" r:id="rId8"/>
    <p:sldId id="313" r:id="rId9"/>
    <p:sldId id="304" r:id="rId10"/>
    <p:sldId id="306" r:id="rId11"/>
    <p:sldId id="281" r:id="rId12"/>
    <p:sldId id="263" r:id="rId13"/>
    <p:sldId id="265" r:id="rId14"/>
    <p:sldId id="266" r:id="rId15"/>
    <p:sldId id="267" r:id="rId16"/>
    <p:sldId id="268" r:id="rId17"/>
    <p:sldId id="269" r:id="rId18"/>
    <p:sldId id="270" r:id="rId19"/>
    <p:sldId id="271" r:id="rId20"/>
    <p:sldId id="272" r:id="rId21"/>
    <p:sldId id="273" r:id="rId22"/>
    <p:sldId id="276" r:id="rId23"/>
    <p:sldId id="279" r:id="rId24"/>
    <p:sldId id="280"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9144000" cy="5143500" type="screen16x9"/>
  <p:notesSz cx="6858000" cy="9144000"/>
  <p:embeddedFontLst>
    <p:embeddedFont>
      <p:font typeface="Inter" panose="020B0604020202020204" charset="0"/>
      <p:regular r:id="rId49"/>
      <p:bold r:id="rId50"/>
      <p:italic r:id="rId51"/>
      <p:boldItalic r:id="rId52"/>
    </p:embeddedFont>
    <p:embeddedFont>
      <p:font typeface="Inter ExtraBold" panose="020B0604020202020204" charset="0"/>
      <p:bold r:id="rId53"/>
      <p:boldItalic r:id="rId54"/>
    </p:embeddedFont>
    <p:embeddedFont>
      <p:font typeface="Inter Medium" panose="020B0604020202020204" charset="0"/>
      <p:regular r:id="rId55"/>
      <p:bold r:id="rId56"/>
      <p:italic r:id="rId57"/>
      <p:boldItalic r:id="rId58"/>
    </p:embeddedFont>
    <p:embeddedFont>
      <p:font typeface="Inter SemiBold" panose="020B0604020202020204" charset="0"/>
      <p:regular r:id="rId59"/>
      <p:bold r:id="rId60"/>
      <p:italic r:id="rId61"/>
      <p:boldItalic r:id="rId62"/>
    </p:embeddedFont>
    <p:embeddedFont>
      <p:font typeface="Roboto Mono" panose="00000009000000000000" pitchFamily="49" charset="0"/>
      <p:regular r:id="rId63"/>
      <p:bold r:id="rId64"/>
      <p:italic r:id="rId65"/>
      <p:boldItalic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748" y="5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daed9049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daed9049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E22292D-32AE-0960-45E8-62BF575027E5}"/>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44267032-B792-5E21-2239-120D4CA3A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FE6264A2-9AD8-1489-AD57-A57797516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6878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27.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28.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28.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3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3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3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5.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36.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3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38.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39.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2.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4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4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4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46.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6.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20 - Sprint 9</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Análisis de negocio</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Tasas de conversión</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Embudos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Cohortes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Tasas de cancelación</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70" name="Google Shape;70;p1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Speaker</a:t>
            </a:r>
            <a:endParaRPr sz="4000">
              <a:solidFill>
                <a:srgbClr val="1A1A1A"/>
              </a:solidFill>
              <a:latin typeface="Inter ExtraBold"/>
              <a:ea typeface="Inter ExtraBold"/>
              <a:cs typeface="Inter ExtraBold"/>
              <a:sym typeface="Inter ExtraBold"/>
            </a:endParaRPr>
          </a:p>
        </p:txBody>
      </p:sp>
      <p:sp>
        <p:nvSpPr>
          <p:cNvPr id="71" name="Google Shape;71;p18"/>
          <p:cNvSpPr txBox="1">
            <a:spLocks noGrp="1"/>
          </p:cNvSpPr>
          <p:nvPr>
            <p:ph type="ctrTitle" idx="2"/>
          </p:nvPr>
        </p:nvSpPr>
        <p:spPr>
          <a:xfrm>
            <a:off x="188775" y="4206900"/>
            <a:ext cx="4265100" cy="7080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dirty="0">
                <a:solidFill>
                  <a:srgbClr val="1A1A1A"/>
                </a:solidFill>
                <a:latin typeface="Inter ExtraBold"/>
                <a:ea typeface="Inter ExtraBold"/>
                <a:cs typeface="Inter ExtraBold"/>
                <a:sym typeface="Inter ExtraBold"/>
              </a:rPr>
              <a:t>Leyton Jean Piere</a:t>
            </a:r>
            <a:br>
              <a:rPr lang="en" sz="3200" dirty="0">
                <a:solidFill>
                  <a:srgbClr val="1A1A1A"/>
                </a:solidFill>
                <a:latin typeface="Inter ExtraBold"/>
                <a:ea typeface="Inter ExtraBold"/>
                <a:cs typeface="Inter ExtraBold"/>
                <a:sym typeface="Inter ExtraBold"/>
              </a:rPr>
            </a:br>
            <a:r>
              <a:rPr lang="en" sz="1400" dirty="0">
                <a:solidFill>
                  <a:srgbClr val="1A1A1A"/>
                </a:solidFill>
                <a:latin typeface="Inter"/>
                <a:ea typeface="Inter"/>
                <a:cs typeface="Inter"/>
                <a:sym typeface="Inter"/>
              </a:rPr>
              <a:t>Tutor</a:t>
            </a:r>
            <a:endParaRPr sz="1800" dirty="0">
              <a:solidFill>
                <a:srgbClr val="1A1A1A"/>
              </a:solidFill>
              <a:latin typeface="Inter ExtraBold"/>
              <a:ea typeface="Inter ExtraBold"/>
              <a:cs typeface="Inter ExtraBold"/>
              <a:sym typeface="Inter ExtraBold"/>
            </a:endParaRPr>
          </a:p>
        </p:txBody>
      </p:sp>
      <p:pic>
        <p:nvPicPr>
          <p:cNvPr id="72" name="Google Shape;72;p18"/>
          <p:cNvPicPr preferRelativeResize="0"/>
          <p:nvPr/>
        </p:nvPicPr>
        <p:blipFill>
          <a:blip r:embed="rId4"/>
          <a:srcRect l="4836" t="5470" r="2404" b="32805"/>
          <a:stretch/>
        </p:blipFill>
        <p:spPr>
          <a:xfrm>
            <a:off x="5409525" y="1139398"/>
            <a:ext cx="3545700" cy="3545700"/>
          </a:xfrm>
          <a:prstGeom prst="roundRect">
            <a:avLst>
              <a:gd name="adj" fmla="val 4772"/>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Entender el concepto de tasa de conversión a partir de datos </a:t>
            </a:r>
            <a:r>
              <a:rPr lang="es-ES" sz="1800" dirty="0" err="1"/>
              <a:t>sinteticos</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Usar embudos para agrupar la información de un </a:t>
            </a:r>
            <a:r>
              <a:rPr lang="es-CO" sz="1800" dirty="0" err="1"/>
              <a:t>df</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Análisis en la secuencia de eventos</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4777A78-6FEF-3B53-0389-27806B45CD5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8CB221BE-A96F-8DBD-0FA6-3520BB05B635}"/>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76F4D4A-1845-15B9-CE7F-D1DD2798F844}"/>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2954355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Qué recuerdas por tasas de conversión?</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En qué contexto utilizarías las tasas de retención y/o cancelación?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Encuentras útil estos análisis de negocio?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TotalTime>
  <Words>1567</Words>
  <Application>Microsoft Office PowerPoint</Application>
  <PresentationFormat>Presentación en pantalla (16:9)</PresentationFormat>
  <Paragraphs>165</Paragraphs>
  <Slides>46</Slides>
  <Notes>46</Notes>
  <HiddenSlides>35</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46</vt:i4>
      </vt:variant>
    </vt:vector>
  </HeadingPairs>
  <TitlesOfParts>
    <vt:vector size="53" baseType="lpstr">
      <vt:lpstr>Arial</vt:lpstr>
      <vt:lpstr>Inter Medium</vt:lpstr>
      <vt:lpstr>Inter ExtraBold</vt:lpstr>
      <vt:lpstr>Roboto Mono</vt:lpstr>
      <vt:lpstr>Inter SemiBold</vt:lpstr>
      <vt:lpstr>Inter</vt:lpstr>
      <vt:lpstr>Simple Light</vt:lpstr>
      <vt:lpstr>Webinar 20 - Sprint 9 Análisis de negocio</vt:lpstr>
      <vt:lpstr>Agenda</vt:lpstr>
      <vt:lpstr>Speaker</vt:lpstr>
      <vt:lpstr>Acuerdos</vt:lpstr>
      <vt:lpstr>Objetivo</vt:lpstr>
      <vt:lpstr>Midamos los ánimos</vt:lpstr>
      <vt:lpstr>Recap</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17</cp:revision>
  <dcterms:modified xsi:type="dcterms:W3CDTF">2025-03-13T02:52:16Z</dcterms:modified>
</cp:coreProperties>
</file>